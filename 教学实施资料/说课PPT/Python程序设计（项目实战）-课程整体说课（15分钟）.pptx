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开场30秒：报课程名+学时+面向岗位，说明说课八个环节。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框架页30秒：指读八环节与分钟归属，评委可对照打分表。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过渡：从专业人才培养方案说起。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定位页90秒：念性质定位一句，指读岗位链与证书衔接。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学情：起点/差异/对策三段，40秒。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学情三问：先讲共性起点，再讲差异，落到对策。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摸底数据卡：25%跟做保底、40%基础完成、25%标准达成、10%进阶拓展——ABCD分层就是为此设计。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目标页90秒：点读关键动词（掌握/能/养成），对应工单验收口径。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内容：模块化+剧情递进，2分钟。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模块表：自上而下讲剧情递进，每个模块挂接两江智造剧情线。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架构图：自下而上讲'数据→模型→应用'的递进逻辑，每个方块对应一周工单。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设计：六步法+ABCD+理实一体，90秒。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六步法：资讯计划课前线上完成——课堂从决策直接开始，实施占比50%。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四支柱：逐个点读——理实一体是形，ABCD是序，剧情是魂，数字化是翼。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情境说书60秒：以第1周为例讲剧情如何驱动任务。抛问'如果是你，第一步干什么？'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资源：五层资料+虚拟产线，40秒。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资源页40秒：16个notebook+10个微课+8份工单+P7智能运维平台可部署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评价：过程80+结果20，90秒。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权重：过程性80%——每周工单即考；期末20%综合答辩。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评分细则：四级量表对应ABCD分层，每个等级有明确达标线。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三级质检：强调'讲得清才算会'——防抄防混。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特色：60秒收束。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特色页：点读岗课赛证创+思政+虚拟产线+分层四个亮点。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成果数据卡：41份工单+72个PPT+64个notebook+35个微课，全部可再生成。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成效页：报达标率与诊改机制，回扣定位一句话收束。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结束：感谢评委，恳请指导。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107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课程整体说课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107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32学时 · 大二 · 第1-8周（扩展9周选做） · 说课时长15分钟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说课人：专业教学团队 · 依据：课程标准+授课计划+48学时实施方案 · 载体：重庆两江智造集团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说课框架（八环节 · 15分钟）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600000"/>
            <a:ext cx="5150000" cy="11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600000"/>
            <a:ext cx="82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1890000"/>
            <a:ext cx="82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40000" y="1680000"/>
            <a:ext cx="40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545E8"/>
                </a:solidFill>
                <a:latin typeface="微软雅黑"/>
              </a:rPr>
              <a:t>约2′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0000" y="2250000"/>
            <a:ext cx="402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性质·岗位·证书·衔接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600000"/>
            <a:ext cx="5150000" cy="11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600000"/>
            <a:ext cx="82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1890000"/>
            <a:ext cx="82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50000" y="1680000"/>
            <a:ext cx="40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>
                <a:solidFill>
                  <a:srgbClr val="010328"/>
                </a:solidFill>
                <a:latin typeface="微软雅黑"/>
              </a:rPr>
              <a:t>学情分析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545E8"/>
                </a:solidFill>
                <a:latin typeface="微软雅黑"/>
              </a:rPr>
              <a:t>约1′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0000" y="2250000"/>
            <a:ext cx="402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起点·差异·对策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2930000"/>
            <a:ext cx="5150000" cy="11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2930000"/>
            <a:ext cx="82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220000"/>
            <a:ext cx="82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40000" y="3010000"/>
            <a:ext cx="40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>
                <a:solidFill>
                  <a:srgbClr val="010328"/>
                </a:solidFill>
                <a:latin typeface="微软雅黑"/>
              </a:rPr>
              <a:t>课程目标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545E8"/>
                </a:solidFill>
                <a:latin typeface="微软雅黑"/>
              </a:rPr>
              <a:t>约2′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40000" y="3580000"/>
            <a:ext cx="402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知识·能力·素质三维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2930000"/>
            <a:ext cx="5150000" cy="11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2930000"/>
            <a:ext cx="82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220000"/>
            <a:ext cx="82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0000" y="3010000"/>
            <a:ext cx="40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>
                <a:solidFill>
                  <a:srgbClr val="010328"/>
                </a:solidFill>
                <a:latin typeface="微软雅黑"/>
              </a:rPr>
              <a:t>内容与结构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545E8"/>
                </a:solidFill>
                <a:latin typeface="微软雅黑"/>
              </a:rPr>
              <a:t>约3′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0000" y="3580000"/>
            <a:ext cx="402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模块化·剧情递进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4260000"/>
            <a:ext cx="5150000" cy="11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4260000"/>
            <a:ext cx="82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4550000"/>
            <a:ext cx="82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40000" y="4340000"/>
            <a:ext cx="40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>
                <a:solidFill>
                  <a:srgbClr val="010328"/>
                </a:solidFill>
                <a:latin typeface="微软雅黑"/>
              </a:rPr>
              <a:t>教学设计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545E8"/>
                </a:solidFill>
                <a:latin typeface="微软雅黑"/>
              </a:rPr>
              <a:t>约3′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40000" y="4910000"/>
            <a:ext cx="402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六步法·ABCD分层·理实一体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4260000"/>
            <a:ext cx="5150000" cy="11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4260000"/>
            <a:ext cx="82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4550000"/>
            <a:ext cx="82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0000" y="4340000"/>
            <a:ext cx="40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>
                <a:solidFill>
                  <a:srgbClr val="010328"/>
                </a:solidFill>
                <a:latin typeface="微软雅黑"/>
              </a:rPr>
              <a:t>教学资源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545E8"/>
                </a:solidFill>
                <a:latin typeface="微软雅黑"/>
              </a:rPr>
              <a:t>约1′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0000" y="4910000"/>
            <a:ext cx="402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五层资料·虚拟产线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0000" y="5590000"/>
            <a:ext cx="5150000" cy="11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0000" y="5590000"/>
            <a:ext cx="82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0000" y="5880000"/>
            <a:ext cx="82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40000" y="5670000"/>
            <a:ext cx="40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>
                <a:solidFill>
                  <a:srgbClr val="010328"/>
                </a:solidFill>
                <a:latin typeface="微软雅黑"/>
              </a:rPr>
              <a:t>考核评价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545E8"/>
                </a:solidFill>
                <a:latin typeface="微软雅黑"/>
              </a:rPr>
              <a:t>约2′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40000" y="6240000"/>
            <a:ext cx="402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过程80%·三级质检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70000" y="5590000"/>
            <a:ext cx="5150000" cy="11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70000" y="5590000"/>
            <a:ext cx="82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70000" y="5880000"/>
            <a:ext cx="82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50000" y="5670000"/>
            <a:ext cx="40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>
                <a:solidFill>
                  <a:srgbClr val="010328"/>
                </a:solidFill>
                <a:latin typeface="微软雅黑"/>
              </a:rPr>
              <a:t>特色与成效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545E8"/>
                </a:solidFill>
                <a:latin typeface="微软雅黑"/>
              </a:rPr>
              <a:t>约1′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50000" y="6240000"/>
            <a:ext cx="402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岗课赛证创·诊改闭环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为什么开这门课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本课程是完全自包含的独立工程应用课程，特别为已掌握C语言基础的大二学生设计：四大核心定位——从C到Python的自然过渡、融合式教学、对标企业岗位、时间高效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工业数据采集技术员、数据工程师、数据分析工程师、AI应用工程师、边缘计算运维员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学时学分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32学时（理论8+实训24）· 2学分 · 第1-8周（大二；扩展9周含综合项目为选做）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Python开发职业技能等级证书（工信部）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1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1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0000" y="595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0000" y="580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C语言编程基础 → 本课 → 毕业设计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学情分析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学生是谁·差异在哪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学情分析：起点 · 差异 · 对策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9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0" cy="9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160000"/>
            <a:ext cx="138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起点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0000" y="1900000"/>
            <a:ext cx="9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起点：大二，已修Python编程基础48学时，会Pandas/NumPy基础操作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00000"/>
            <a:ext cx="10900000" cy="9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00000"/>
            <a:ext cx="1500000" cy="9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260000"/>
            <a:ext cx="138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差异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0000" y="3000000"/>
            <a:ext cx="9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差异：工程化经验分化大——会用库≠会做项目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100000"/>
            <a:ext cx="10900000" cy="9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100000"/>
            <a:ext cx="1500000" cy="95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60000"/>
            <a:ext cx="138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对策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0000" y="4100000"/>
            <a:ext cx="9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对策：Git+Gitee五步工作流规范协作，P7选做多模存储全栈挑战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000" y="5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0475B6"/>
                </a:solidFill>
                <a:latin typeface="微软雅黑"/>
              </a:rPr>
              <a:t>→ 下一页：入学摸底分层数据，ABCD四层动态升降就是为此设计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入学摸底分层占比（%）· ABCD每4周动态升降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3650000"/>
            <a:ext cx="1400000" cy="17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30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D层·学徒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2600000"/>
            <a:ext cx="1400000" cy="2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C层·操作员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650000"/>
            <a:ext cx="1400000" cy="17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0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B层·组长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700000"/>
            <a:ext cx="14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A层·师傅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分层依据：入学摸底+第2周课堂观察；动态升降保公平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三维目标·可测可评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课程目标（三维可测可评）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1.Python核心语法：基本类型、控制流、函数、OOP（应用水平）。…（共6条，对应工单验收口径）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1.工业级代码开发：独立编写符合企业规范的Python代码。…（共6条，对应周工单+代码审查）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1.工程伦理：数据安全意识、代码可维护性责任、文档完整性。（课程思政如盐入水）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内容与结构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教什么·怎么编排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模块化任务结构（岗课赛证融通）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00000"/>
            <a:ext cx="32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1820000"/>
            <a:ext cx="3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0" y="1700000"/>
            <a:ext cx="22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0" y="18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周次·学时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0" y="1700000"/>
            <a:ext cx="4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0" y="1820000"/>
            <a:ext cx="4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任务内容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400000"/>
            <a:ext cx="3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50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项目P1 Python工程基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00000" y="2400000"/>
            <a:ext cx="2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00000" y="250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第1-2周 · 8课时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0000" y="2400000"/>
            <a:ext cx="4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0000" y="250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双栏对照迁移、容器与OOP、异常处理；PEP 8、venv、Git、项目结构、pytes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020000"/>
            <a:ext cx="3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12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项目P2 数据处理工程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00000" y="3020000"/>
            <a:ext cx="2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00000" y="312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第3-4周 · 8课时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0000" y="3020000"/>
            <a:ext cx="4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0000" y="312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三类脏数据处理、七步管道、质量评分；向量化、广播、FFT、30维特征字典。工单：清洗管道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640000"/>
            <a:ext cx="3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374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项目P3 可视化与报表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00000" y="3640000"/>
            <a:ext cx="2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00000" y="374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第5周 · 4课时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0000" y="3640000"/>
            <a:ext cx="4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0000" y="374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Streamlit/Plotly交互仪表盘；Jinja2+reportlab四段式日报。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260000"/>
            <a:ext cx="3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36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项目P4 网络编程与采集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00000" y="4260000"/>
            <a:ext cx="2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00000" y="436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第6周 · 4课时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00000" y="4260000"/>
            <a:ext cx="4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00000" y="436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三线程架构骨架（Modbus采集/MQTT订阅/处理入库）、Queue线程安全、断线重连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4880000"/>
            <a:ext cx="3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98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项目P5 数据库应用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00000" y="4880000"/>
            <a:ext cx="2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00000" y="498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第7周 · 4课时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00000" y="4880000"/>
            <a:ext cx="4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00000" y="498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四表ER设计、SQLAlchemy ORM、批量写入、索引优化（EXPLAIN对比）。工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0000" y="5500000"/>
            <a:ext cx="3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000" y="560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项目P6 机器学习应用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00000" y="5500000"/>
            <a:ext cx="22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00000" y="560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第8周 · 4课时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00000" y="5500000"/>
            <a:ext cx="4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00000" y="560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五步建模流、交叉验证、F1≥0.80；预训练模型包+推理服务封装与性能测试（训练与推理分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0000" y="6120000"/>
            <a:ext cx="3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0000" y="622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项目P7 智能运维平台（扩展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00000" y="6120000"/>
            <a:ext cx="22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00000" y="622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第9周 · 4课时(选做)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00000" y="6120000"/>
            <a:ext cx="4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00000" y="622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多模存储选型（SQLite/DuckDB/Kùzu/Chroma/Redis决策矩阵）；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课程内容架构（自下而上）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部署与模型层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102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102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故障诊断模型与部署(W8)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数据仓库层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000" y="2820000"/>
            <a:ext cx="102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0000" y="2880000"/>
            <a:ext cx="102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产线数据仓库与ORM(W7)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采集与看板层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多源数据采集(W6)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KPI仪表盘(W5)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数据处理层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Pandas管道(W3)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NumPy特征(W4)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64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0000" y="588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工程基础层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000" y="570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0000" y="576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Python基础五题(W1)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00000" y="570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40000" y="576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标准工程模板(W2)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000" y="1800000"/>
            <a:ext cx="20000" cy="470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教学设计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怎么教·怎么学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教学流程设计（80分钟时间盒）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课前线上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微课+预习快问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计划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决策矩阵·组内定方案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方案理由入工单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40′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分层做任务·双师巡诊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自检+互查签字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当堂评分+24h反馈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600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80分钟时间盒（4课时周两次课分摊）· 完整六步法课堂化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教学设计四支柱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教学设计四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支柱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理实一体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双创中心302实训室 · 讲演做一体化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ABCD分层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A进阶拓展费曼带徒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剧情载体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重庆两江智造集团12周剧情 · 真实生产关切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数字赋能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虚拟产线五件套 · 微课+notebook预习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10600000" cy="33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0000" y="2740000"/>
            <a:ext cx="10100000" cy="3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剧情载体示例（第1周）：实习第一天，吴工丢来一份《新员工Python能力测评》：'你C语言底子不错，今天把这五道题过了，明天进项目组。'——工单P1.1：五题闯关，完成从C到Python的迁移。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教学资源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用什么教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教学资源五层导览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教学资源五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课程文件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课程标准+授课计划 · 教学方案+分层工单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课堂资料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授课PPT每页讲稿 · starter代码框架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线上资源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微课知识卡+数字人版 · Jupyter实训notebook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实训环境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虚拟产线五件套 · 软件指南照做版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教材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任越美《Python程序设计 · 项目化教程》活页式 · 基础项目式教程》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考核评价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怎么考·怎么反馈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评价权重（%）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过程性·周工单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4280000"/>
            <a:ext cx="1400000" cy="11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372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代码审查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4840000"/>
            <a:ext cx="1400000" cy="5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42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学习投入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280000"/>
            <a:ext cx="1400000" cy="11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372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期末综合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A层·师傅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B层·组长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C层·操作员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D层·学徒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三级质检与诊改闭环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自检：工单达标自评（勾选ABCD层）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互查：组长签字——讲得清才算会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抽查：教师按ABCD分层抽人答辩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反馈：24小时内工单批注退回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诊改：周达标率连续两次&lt;70%触发台账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08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特色与成效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可复制亮点·量化成果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课程特色（可复制可推广）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岗课赛证创五维融通：P2/P3任务对标大数据应用开发类竞赛数据处理与可视化题型；P6对标AI应用赛项工程化部署环节…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课程思政如盐入水：总目标：工程责任与绿色计算——代码可维护、文档完整、测试先行；用算法效率换算力与碳排节约…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零硬件虚拟产线：数据生成/故障模拟/缺陷库/知识库/生产模拟五件套离线可跑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ABCD四层动态升降：每4周评一次，保底不封顶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P7智能运维平台：Litestar+五库全栈，verify.sh 9断言可复现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课程资源建设成果（份）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3805556"/>
            <a:ext cx="1400000" cy="15944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3245556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分层工单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2600000"/>
            <a:ext cx="1400000" cy="2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授课PPT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2911112"/>
            <a:ext cx="1400000" cy="24888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2351112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Jupyter实训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038889"/>
            <a:ext cx="1400000" cy="13611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347888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微课视频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全部与工单/课标同源自动同步——改一处全链更新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教学成效与持续改进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代码审查合格率≥90%，8份工单全员按时提交率≥95%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三级闭环：学生评教+督导听课+企业反馈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学习投入：课前微课观看率≥85%，实训任务当堂完成率≥90%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课证赛贯通：1+X证书考核对标课内工单，W6竞标/W12答辩对标技能大赛规程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课程标准年度修订：对齐1+X大纲与载体案例库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8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7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四层教学文件开课前交叉校验（课标/计划/方案/工单）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