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开场30秒：《MLP神经网络（下）：优化与评价》，80分钟=2课时×40分钟。课前已发工单+微课知识卡。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议程页30秒：指读分钟归属，强调课前已完成资讯计划。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过渡页：一句话点明为什么学、学了去哪。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念课程性质一行，指读证书衔接（30秒）。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知识地图：先见森林（40秒）。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流程预告。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决策10→实施40→检查10→实施30→评价10口径（4课时周两次课分摊）。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ABCD分层节奏提醒。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PRIMM之Predict。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点读关键动词，对应工单验收口径。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课前测：点2人说答案，只追问为什么。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情境说书30秒：第一个神经网络。王主任路过看你屏幕：'这堆圈圈连线，比我闺女画的还乱。'林工笑：'乱中有序——每个圈都在学。'工单M2-…</a:t>
            </a:r>
          </a:p>
          <a:p>
            <a:r>
              <a:t>抛问：'如果是你，第一步干什么？'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先例后理。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知识卡1：神经元=加权求和+激活；MLP=多层堆叠学非线性边界…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知识卡2：激活函数ReLU：负半轴归零，梯度不饱和——应用：见工单st…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知识卡3：前向传播算输出、反向传播调权重（只讲直觉不推公式）…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知识卡4：过拟合三信号：训练损失降验证损失升、gap持续拉大…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知识卡5：两大药方：Dropout随机失活与EarlyStopping…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知识卡6：损失曲线是听诊器：先看曲线再动手改结构——应用：见工单sta… 讲法：例子→定义→点1人复述。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快查核对：遮左说右。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技能点=做完你应该会。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步骤清单与工单一一对应。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演示《MLP骨架》：跑通→逐行→改参数（演的核心素材）。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演示《损失曲线》：跑通→逐行→改参数（演的核心素材）。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强调时间盒纪律。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先决策再领工单。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决策矩阵：组内3分钟打分，结论理由入工单。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工单发布：'设备智能运维中心工单M2-3a'——及格线准确率≥75%。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D层跟做保底，领做做完即达标。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C层独立完成，卡壳先查错误速查表。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B层全功能+规范，帮带D/C。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A层进阶拓展+2分钟展示（费曼带徒）。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错误速查：现场制造「loss为nan」带学生三步排查。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收尾：检查+评价。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自检→互查签字→教师抽查。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命名'学号_姓名_工单号.zip'，24h反馈。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素养页：点1个真实案例（30秒）。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教材衔接：教材：《人工智能应用基础项目式教程》（程显毅 陈凤妹 王岩 编著，978-7-111-77382-5）— 项目4 深度学习 | 预习知识点：神经网络结构(层/节点/激活)；MLP与反向传播直观 | 课中检查知识点：能看懂学习曲线；会用early stopping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下次课预告：布置微课与导学单。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78308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783080"/>
            <a:ext cx="12192000" cy="6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250000"/>
            <a:ext cx="10792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200" b="0">
                <a:solidFill>
                  <a:srgbClr val="FFFFFF"/>
                </a:solidFill>
                <a:latin typeface="微软雅黑"/>
              </a:rPr>
              <a:t>AI应用基础（48课时版）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BBC6E6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0000" y="2263140"/>
            <a:ext cx="5992000" cy="2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>
                <a:solidFill>
                  <a:srgbClr val="010328"/>
                </a:solidFill>
                <a:latin typeface="微软雅黑"/>
              </a:rPr>
              <a:t>MLP神经网络（下）：优化与评价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00000" y="3771900"/>
            <a:ext cx="59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800" b="0">
                <a:solidFill>
                  <a:srgbClr val="0545E8"/>
                </a:solidFill>
                <a:latin typeface="微软雅黑"/>
              </a:rPr>
              <a:t>第8周 · 第10次课（2课时 · 80分钟）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双创中心302实训室 · 理实一体 · 配套：分层工单+starter · 本课主用：Jupyter（全程实训）+ PyCharm CE（starter编码）+ Git/GitHub（每周提交）</a:t>
            </a:r>
          </a:p>
        </p:txBody>
      </p:sp>
      <p:pic>
        <p:nvPicPr>
          <p:cNvPr id="7" name="Picture 6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0000" y="2300000"/>
            <a:ext cx="4100000" cy="307500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700000" y="5623560"/>
            <a:ext cx="1500000" cy="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0000" y="5760720"/>
            <a:ext cx="10792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重庆现代制造职业学院  智能控制学院 · 工业互联网应用专业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本次课议程（六部分 · 80分钟）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8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课程定位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课前已读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8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性质·岗位·证书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70000" y="185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70000" y="185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70000" y="223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90000" y="200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课堂流程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约2′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90000" y="261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80分钟时间盒与ABCD分层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8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目标与资讯·情境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约5′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8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目标+本课剧情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70000" y="347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70000" y="347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70000" y="385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90000" y="362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知识精讲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90000" y="423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基础知识大卡+代码演示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8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任务实施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六步法核心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8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工单·分层·避坑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70000" y="5090000"/>
            <a:ext cx="5150000" cy="140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70000" y="5090000"/>
            <a:ext cx="950000" cy="14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70000" y="5470000"/>
            <a:ext cx="95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FFFFF"/>
                </a:solidFill>
                <a:latin typeface="微软雅黑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90000" y="5240000"/>
            <a:ext cx="39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检查与评价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1">
                <a:solidFill>
                  <a:srgbClr val="F5670F"/>
                </a:solidFill>
                <a:latin typeface="微软雅黑"/>
              </a:rPr>
              <a:t>约15′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90000" y="5850000"/>
            <a:ext cx="3900000" cy="5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三层质检·当堂评分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60000" y="6350000"/>
            <a:ext cx="10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资讯·计划已课前线上完成——课堂从决策直接开始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02 / 39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01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课程定位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本课在课程体系中的位置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03 / 39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课程定位：AI应用基础（48课时版）（课程标准摘录）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30000" y="199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课程性质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00000" y="184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专业核心课扩展版：48课时全谱系（数据→ML→DL→视觉→大模型→智能体）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74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274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0000" y="298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面向岗位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0000" y="283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AI应用工程师、工业视觉开发、工业互联网数据分析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373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373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0000" y="397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对接证书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500000" y="382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1+X AI应用实践（初级=M1-M3/中级=M4/高级=M5）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4720000"/>
            <a:ext cx="10900000" cy="8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0000" y="4720000"/>
            <a:ext cx="150000" cy="8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30000" y="4960000"/>
            <a:ext cx="23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课程衔接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00000" y="4810000"/>
            <a:ext cx="9100000" cy="72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前：无Python先修（零基础·并行开设） → 本课(第4-15周·12周×4课时) → 后：项目实战/毕设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04 / 39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本课知识图谱（先见森林，再见树木）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700000"/>
            <a:ext cx="1700000" cy="13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2900000"/>
            <a:ext cx="1580000" cy="11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MLP神经</a:t>
            </a:r>
          </a:p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网络（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000" y="4300000"/>
            <a:ext cx="17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100" b="0">
                <a:solidFill>
                  <a:srgbClr val="44546A"/>
                </a:solidFill>
                <a:latin typeface="微软雅黑"/>
              </a:rPr>
              <a:t>5条分支导览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2400000" y="2040000"/>
            <a:ext cx="1050000" cy="131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500000" y="165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500000" y="165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0000" y="187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基础知识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40000" y="174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神经元=加权求和+激活；MLP=多层堆叠学非线性边界 · 激活函数ReLU：负半轴归零，梯度不饱和——应用：见工单starter与教师参考实现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2400000" y="2960000"/>
            <a:ext cx="1050000" cy="39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3500000" y="257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500000" y="257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60000" y="279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继续夯实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40000" y="266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前向传播算输出、反向传播调权重（只讲直觉不推公式） · 过拟合三信号：训练损失降验证损失升、gap持续拉大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400000" y="3350000"/>
            <a:ext cx="1050000" cy="53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3500000" y="349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500000" y="349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60000" y="371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技能点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40000" y="358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 · 能读懂训练验证损失曲线——应用：见工单starter与教师参考实现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2400000" y="3350000"/>
            <a:ext cx="1050000" cy="145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3500000" y="441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500000" y="441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560000" y="463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分层任务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40000" y="450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D跟做保底 · C基础完成 · B标准达成 · A进阶拓展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400000" y="3350000"/>
            <a:ext cx="1050000" cy="2370000"/>
          </a:xfrm>
          <a:prstGeom prst="line">
            <a:avLst/>
          </a:prstGeom>
          <a:ln w="20320">
            <a:solidFill>
              <a:srgbClr val="B9C4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3500000" y="5330000"/>
            <a:ext cx="8100000" cy="780000"/>
          </a:xfrm>
          <a:prstGeom prst="rect">
            <a:avLst/>
          </a:prstGeom>
          <a:solidFill>
            <a:srgbClr val="F3F6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500000" y="5330000"/>
            <a:ext cx="1500000" cy="7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60000" y="5550000"/>
            <a:ext cx="138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FFFFF"/>
                </a:solidFill>
                <a:latin typeface="微软雅黑"/>
              </a:rPr>
              <a:t>课堂评价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40000" y="5420000"/>
            <a:ext cx="6340000" cy="6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>
                <a:solidFill>
                  <a:srgbClr val="010328"/>
                </a:solidFill>
                <a:latin typeface="微软雅黑"/>
              </a:rPr>
              <a:t>功能40% · 技术25% · 规范20% · 素养15%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05 / 39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02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课堂流程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80分钟时间盒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06 / 39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本次课流程（80分钟时间盒）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0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190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0000" y="200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资讯·计划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0000" y="200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课前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00000" y="200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线上导学单+预习自测（已完成的打√）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0000" y="269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00000" y="269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000" y="279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决策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00000" y="279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0000" y="279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备选方案对比 → 决策矩阵打分 → 结论公示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348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0000" y="348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0000" y="358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00000" y="358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30min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00000" y="358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骨架贯通：体验→应用，完成工单核心功能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000" y="427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000" y="427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0000" y="437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检查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00000" y="437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5min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00000" y="437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三层质检：自检—互检—师查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5060000"/>
            <a:ext cx="10000000" cy="68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0000" y="5060000"/>
            <a:ext cx="1700000" cy="68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000" y="516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实施二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00000" y="516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25min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00000" y="516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优化迭代：冲优秀标准/拓展任务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0000" y="5850000"/>
            <a:ext cx="10000000" cy="68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0000" y="5850000"/>
            <a:ext cx="1700000" cy="68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0000" y="5950000"/>
            <a:ext cx="16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评价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00000" y="5950000"/>
            <a:ext cx="15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010328"/>
                </a:solidFill>
                <a:latin typeface="微软雅黑"/>
              </a:rPr>
              <a:t>10min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00000" y="5950000"/>
            <a:ext cx="64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D/C/B/A量表评分 + 课后任务布置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0000" y="6058000"/>
            <a:ext cx="10000000" cy="2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每课时40分钟 · 共80分钟（六步法课堂化）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07 / 39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80分钟课堂节奏（学生自查）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5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5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03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0-10 min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00000" y="203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资讯回顾+决策矩阵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0000" y="203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跟上讨论, 记下结论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277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277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295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10-40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00000" y="295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第一轮实施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0000" y="295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完成本层核心任务主体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369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369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60000" y="387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40-45 min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00000" y="387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三层检查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0000" y="387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自检表勾完+互检1条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0000" y="4610000"/>
            <a:ext cx="10900000" cy="820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60000" y="461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000" y="479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45-70 min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0000" y="479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第二轮实施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00000" y="479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优化/冲标准/补漏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60000" y="5530000"/>
            <a:ext cx="10900000" cy="82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60000" y="5530000"/>
            <a:ext cx="1800000" cy="82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0000" y="571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70-80 min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00000" y="5710000"/>
            <a:ext cx="33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评价+课后布置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0000" y="5710000"/>
            <a:ext cx="52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我要做到: 自评打分, 记录课后任务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08 / 39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03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目标与资讯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带着目标进课堂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09 / 39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学习目标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知识目标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知识：神经元=加权求和+激活；MLP=多层堆叠学非线性边界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5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5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能力目标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能力：能搭建并训练MLP分类器——应用：见工单starter与教师参考实现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800000" y="2200000"/>
            <a:ext cx="3300000" cy="34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800000" y="2200000"/>
            <a:ext cx="33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0000" y="228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800" b="1">
                <a:solidFill>
                  <a:srgbClr val="FFFFFF"/>
                </a:solidFill>
                <a:latin typeface="微软雅黑"/>
              </a:rPr>
              <a:t>素质目标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80000" y="3100000"/>
            <a:ext cx="2940000" cy="2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素质：数据诚信与工程纪律（课程思政）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10 / 39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课前资讯回顾（六步之“资讯·计划”）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100000"/>
            <a:ext cx="10600000" cy="17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00000" y="2100000"/>
            <a:ext cx="120000" cy="1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0000" y="2280000"/>
            <a:ext cx="100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预习快问：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010328"/>
                </a:solidFill>
                <a:latin typeface="微软雅黑"/>
              </a:rPr>
              <a:t>W8课中查①：'loss为nan'这个报错怎么排查？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100000"/>
            <a:ext cx="106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课前检查：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44546A"/>
                </a:solidFill>
                <a:latin typeface="微软雅黑"/>
              </a:rPr>
              <a:t>W8课中查②：优秀线准确率≥85%你打算怎么冲？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11 / 39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任务情境（集团项目案例）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780000"/>
            <a:ext cx="106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1880000"/>
            <a:ext cx="102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◆ 重庆两江智造集团 · 设备智能运维中心</a:t>
            </a:r>
          </a:p>
        </p:txBody>
      </p:sp>
      <p:sp>
        <p:nvSpPr>
          <p:cNvPr id="7" name="Rectangle 6"/>
          <p:cNvSpPr/>
          <p:nvPr/>
        </p:nvSpPr>
        <p:spPr>
          <a:xfrm>
            <a:off x="800000" y="2580000"/>
            <a:ext cx="6300000" cy="3600000"/>
          </a:xfrm>
          <a:prstGeom prst="rect">
            <a:avLst/>
          </a:prstGeom>
          <a:solidFill>
            <a:srgbClr val="F7F9FD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0000" y="2740000"/>
            <a:ext cx="5900000" cy="3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50" b="0">
                <a:solidFill>
                  <a:srgbClr val="010328"/>
                </a:solidFill>
                <a:latin typeface="微软雅黑"/>
              </a:rPr>
              <a:t>第一个神经网络。王主任路过看你屏幕：'这堆圈圈连线，比我闺女画的还乱。'林工笑：'乱中有序——每个圈都在学。'工单M2-3a：MLP读懂振动频谱，看清过拟合长什么样。</a:t>
            </a:r>
          </a:p>
        </p:txBody>
      </p:sp>
      <p:pic>
        <p:nvPicPr>
          <p:cNvPr id="9" name="Picture 8" descr="W8_场景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50000" y="2580000"/>
            <a:ext cx="4150000" cy="36000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12 / 39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04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知识精讲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基础知识 → 技能 → 代码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13 / 39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B01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神经元=加权求和+激活；MLP=多层堆叠学非线性边界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14 / 39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B02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激活函数ReLU：负半轴归零，梯度不饱和——应用：见工单starter与教师参考实现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15 / 39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B03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前向传播算输出、反向传播调权重（只讲直觉不推公式）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16 / 39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B04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过拟合三信号：训练损失降验证损失升、gap持续拉大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17 / 39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B05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两大药方：Dropout随机失活与EarlyStopping及时止损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18 / 39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基础知识 B06</a:t>
            </a:r>
          </a:p>
        </p:txBody>
      </p:sp>
      <p:sp>
        <p:nvSpPr>
          <p:cNvPr id="5" name="Rectangle 4"/>
          <p:cNvSpPr/>
          <p:nvPr/>
        </p:nvSpPr>
        <p:spPr>
          <a:xfrm>
            <a:off x="1400000" y="2300000"/>
            <a:ext cx="9400000" cy="2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400000" y="2300000"/>
            <a:ext cx="200000" cy="26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0000" y="1250000"/>
            <a:ext cx="18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000" b="1">
                <a:solidFill>
                  <a:srgbClr val="F5670F"/>
                </a:solidFill>
                <a:latin typeface="微软雅黑"/>
              </a:rPr>
              <a:t>B06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00000" y="2900000"/>
            <a:ext cx="8600000" cy="1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2000" b="1">
                <a:solidFill>
                  <a:srgbClr val="010328"/>
                </a:solidFill>
                <a:latin typeface="微软雅黑"/>
              </a:rPr>
              <a:t>损失曲线是听诊器：先看曲线再动手改结构——应用：见工单starter与教师参考实现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00000" y="5300000"/>
            <a:ext cx="86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——用你自己的话, 向同桌复述一遍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19 / 39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知识快闪：60秒复述以下要点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0000" y="18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1.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神经元=加权求和+激活；MLP=多层堆叠学非线性边界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000" y="256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2.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激活函数ReLU：负半轴归零，梯度不饱和——应用：见工单starter与教师参考实现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000" y="332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3.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前向传播算输出、反向传播调权重（只讲直觉不推公式）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0000" y="408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4.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过拟合三信号：训练损失降验证损失升、gap持续拉大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000" y="484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5.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两大药方：Dropout随机失活与EarlyStopping及时止损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000" y="5600000"/>
            <a:ext cx="108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6. </a:t>
            </a:r>
            <a:r>
              <a:rPr sz="1500" b="0">
                <a:solidFill>
                  <a:srgbClr val="010328"/>
                </a:solidFill>
                <a:latin typeface="微软雅黑"/>
              </a:rPr>
              <a:t>损失曲线是听诊器：先看曲线再动手改结构——应用：见工单starter与教师参考实现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000" y="648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475B6"/>
                </a:solidFill>
                <a:latin typeface="微软雅黑"/>
              </a:rPr>
              <a:t>同桌互述 → 抽2人全班复述（费曼：能讲清才算懂）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20 / 39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技能点：做完你应该会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0000" y="200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205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50000" y="206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能搭建并训练MLP分类器——应用：见工单starter与教师参考实现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293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0000" y="313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0000" y="318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50000" y="319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能读懂训练验证损失曲线——应用：见工单starter与教师参考实现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06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20000" y="426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000" y="431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50000" y="432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能用Dropout与早停治过拟合——应用：见工单starter与教师参考实现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60000" y="5190000"/>
            <a:ext cx="10900000" cy="10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0000" y="5390000"/>
            <a:ext cx="600000" cy="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0000" y="5440000"/>
            <a:ext cx="6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S4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0000" y="5450000"/>
            <a:ext cx="98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能写结构决策记录——应用：见工单starter与教师参考实现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21 / 39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00000" y="230000"/>
            <a:ext cx="7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00000" y="255000"/>
            <a:ext cx="700000" cy="6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00000" y="300000"/>
            <a:ext cx="99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MLP神经网络（下）：优化与评价（实施要点）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820000" y="216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00000" y="205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错误速查复盘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4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00000" y="273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优化冲刺（B/A层）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0000" y="352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00000" y="341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三层质检互查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0000" y="420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00000" y="409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当堂评分与反馈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880000"/>
            <a:ext cx="12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00000" y="4770000"/>
            <a:ext cx="10200000" cy="5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500" b="0">
                <a:solidFill>
                  <a:srgbClr val="010328"/>
                </a:solidFill>
                <a:latin typeface="微软雅黑"/>
              </a:rPr>
              <a:t>· 下次课预告+微课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22 / 39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关键代码：MLP骨架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from sklearn.neural_network import MLPClassifier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mlp = MLPClassifier(hidden_layer_sizes=(64, 32), early_stopping=True).fit(X_tr, y_tr)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print("test acc:", mlp.score(X_te, y_te))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23 / 39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关键代码：损失曲线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10900000" cy="4600000"/>
          </a:xfrm>
          <a:prstGeom prst="rect">
            <a:avLst/>
          </a:prstGeom>
          <a:solidFill>
            <a:srgbClr val="0D11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750000"/>
            <a:ext cx="10900000" cy="1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0000" y="2000000"/>
            <a:ext cx="10300000" cy="42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h = model.fit(X_tr, y_tr, validation_split=.2, epochs=100,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          callbacks=[EarlyStopping(patience=5)])</a:t>
            </a:r>
          </a:p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1250" b="0">
                <a:solidFill>
                  <a:srgbClr val="D6DEF6"/>
                </a:solidFill>
                <a:latin typeface="微软雅黑"/>
              </a:rPr>
              <a:t>plt.plot(h.history["loss"], label="train"); plt.plot(h.history["val_loss"], label="val"); plt.legend()</a:t>
            </a:r>
          </a:p>
        </p:txBody>
      </p:sp>
      <p:sp>
        <p:nvSpPr>
          <p:cNvPr id="8" name="Rectangle 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24 / 39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80分钟时间盒分配（分钟）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846000" y="4700000"/>
            <a:ext cx="1400000" cy="7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决策</a:t>
            </a:r>
          </a:p>
        </p:txBody>
      </p:sp>
      <p:sp>
        <p:nvSpPr>
          <p:cNvPr id="8" name="Rectangle 7"/>
          <p:cNvSpPr/>
          <p:nvPr/>
        </p:nvSpPr>
        <p:spPr>
          <a:xfrm>
            <a:off x="2946000" y="2600000"/>
            <a:ext cx="1400000" cy="28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46000" y="20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40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实施一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46000" y="4700000"/>
            <a:ext cx="1400000" cy="7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检查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46000" y="3300000"/>
            <a:ext cx="1400000" cy="2100000"/>
          </a:xfrm>
          <a:prstGeom prst="rect">
            <a:avLst/>
          </a:prstGeom>
          <a:solidFill>
            <a:srgbClr val="0175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46000" y="27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实施二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6000" y="4700000"/>
            <a:ext cx="1400000" cy="7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46000" y="414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010328"/>
                </a:solidFill>
                <a:latin typeface="微软雅黑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46000" y="5480000"/>
            <a:ext cx="1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评价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00000" y="5400000"/>
            <a:ext cx="9400000" cy="3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0000" y="6100000"/>
            <a:ext cx="109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>
                <a:solidFill>
                  <a:srgbClr val="0475B6"/>
                </a:solidFill>
                <a:latin typeface="微软雅黑"/>
              </a:rPr>
              <a:t>评价环节不压缩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25 / 39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05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任务实施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工单 · 分层 · 避坑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26 / 39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MLP神经网络：备选方案决策矩阵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2000000"/>
            <a:ext cx="3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0000" y="2120000"/>
            <a:ext cx="3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备选方案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可行性</a:t>
            </a:r>
          </a:p>
        </p:txBody>
      </p:sp>
      <p:sp>
        <p:nvSpPr>
          <p:cNvPr id="9" name="Rectangle 8"/>
          <p:cNvSpPr/>
          <p:nvPr/>
        </p:nvSpPr>
        <p:spPr>
          <a:xfrm>
            <a:off x="66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达标概率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0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工时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400000" y="2000000"/>
            <a:ext cx="2400000" cy="70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00000" y="2120000"/>
            <a:ext cx="24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FFFFF"/>
                </a:solidFill>
                <a:latin typeface="微软雅黑"/>
              </a:rPr>
              <a:t>结论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0000" y="270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0000" y="280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方案A：按工单主线（starter起步）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高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适中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400000" y="270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400000" y="280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推荐主干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0000" y="3320000"/>
            <a:ext cx="3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0000" y="342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方案B：自选技术路线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2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6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中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多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1400000" y="3320000"/>
            <a:ext cx="2400000" cy="62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400000" y="342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A层可选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00000" y="3940000"/>
            <a:ext cx="3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0000" y="4040000"/>
            <a:ext cx="3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010328"/>
                </a:solidFill>
                <a:latin typeface="微软雅黑"/>
              </a:rPr>
              <a:t>方案C：直接改现成项目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2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低（无过程分）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6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低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少</a:t>
            </a:r>
          </a:p>
        </p:txBody>
      </p:sp>
      <p:sp>
        <p:nvSpPr>
          <p:cNvPr id="43" name="Rectangle 42"/>
          <p:cNvSpPr/>
          <p:nvPr/>
        </p:nvSpPr>
        <p:spPr>
          <a:xfrm>
            <a:off x="11400000" y="3940000"/>
            <a:ext cx="2400000" cy="620000"/>
          </a:xfrm>
          <a:prstGeom prst="rect">
            <a:avLst/>
          </a:prstGeom>
          <a:solidFill>
            <a:srgbClr val="F3F6FD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400000" y="4040000"/>
            <a:ext cx="2400000" cy="4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不建议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00000" y="4680000"/>
            <a:ext cx="10600000" cy="3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组内打分3分钟，结论与理由写入工单决策记录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27 / 39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实施任务：工单M2-3a《MLP神经网络（下）：优化与评价》</a:t>
            </a:r>
          </a:p>
        </p:txBody>
      </p:sp>
      <p:sp>
        <p:nvSpPr>
          <p:cNvPr id="5" name="Rectangle 4"/>
          <p:cNvSpPr/>
          <p:nvPr/>
        </p:nvSpPr>
        <p:spPr>
          <a:xfrm>
            <a:off x="800000" y="1950000"/>
            <a:ext cx="6300000" cy="3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0000" y="2100000"/>
            <a:ext cx="5900000" cy="3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实施步骤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1. 错误速查复盘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2. 优化冲刺（B/A层）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3. 三层质检互查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4. 当堂评分与反馈</a:t>
            </a:r>
          </a:p>
          <a:p>
            <a:pPr algn="l">
              <a:lnSpc>
                <a:spcPct val="13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5. 下次课预告+微课</a:t>
            </a:r>
          </a:p>
        </p:txBody>
      </p:sp>
      <p:sp>
        <p:nvSpPr>
          <p:cNvPr id="7" name="Rectangle 6"/>
          <p:cNvSpPr/>
          <p:nvPr/>
        </p:nvSpPr>
        <p:spPr>
          <a:xfrm>
            <a:off x="7400000" y="1950000"/>
            <a:ext cx="4000000" cy="185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50000" y="2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475B6"/>
                </a:solidFill>
                <a:latin typeface="微软雅黑"/>
              </a:rPr>
              <a:t>及格标准（D）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准确率≥75%</a:t>
            </a:r>
          </a:p>
        </p:txBody>
      </p:sp>
      <p:sp>
        <p:nvSpPr>
          <p:cNvPr id="9" name="Rectangle 8"/>
          <p:cNvSpPr/>
          <p:nvPr/>
        </p:nvSpPr>
        <p:spPr>
          <a:xfrm>
            <a:off x="7400000" y="3950000"/>
            <a:ext cx="4000000" cy="185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50000" y="4080000"/>
            <a:ext cx="3750000" cy="165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优秀标准（B+）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准确率≥85%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28 / 39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D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学徒 · 跟做保底层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跑通模板MLP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两层全连接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fit看accuracy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4454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打印最终值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44546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模板可运行出指标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29 / 39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C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操作员 · 基础完成层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曲线诊断报告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History取loss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双曲线画图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4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标注过拟合点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E8F1E8"/>
          </a:solidFill>
          <a:ln>
            <a:solidFill>
              <a:srgbClr val="0475B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准确率≥75%图完整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30 / 39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B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组长 · 标准达成层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药方有效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加Dropout0.3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EarlyStopping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054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前后对比曲线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gap收窄且指标不降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31 / 39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分层工单 · A 层任务卡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750000"/>
            <a:ext cx="3200000" cy="9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0000" y="1900000"/>
            <a:ext cx="32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FFFFFF"/>
                </a:solidFill>
                <a:latin typeface="微软雅黑"/>
              </a:rPr>
              <a:t>师傅 · 进阶拓展层</a:t>
            </a:r>
          </a:p>
        </p:txBody>
      </p:sp>
      <p:sp>
        <p:nvSpPr>
          <p:cNvPr id="7" name="Rectangle 6"/>
          <p:cNvSpPr/>
          <p:nvPr/>
        </p:nvSpPr>
        <p:spPr>
          <a:xfrm>
            <a:off x="4300000" y="1750000"/>
            <a:ext cx="7300000" cy="9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000" y="1830000"/>
            <a:ext cx="7000000" cy="76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目标: 小结构搜索</a:t>
            </a:r>
          </a:p>
        </p:txBody>
      </p:sp>
      <p:sp>
        <p:nvSpPr>
          <p:cNvPr id="9" name="Rectangle 8"/>
          <p:cNvSpPr/>
          <p:nvPr/>
        </p:nvSpPr>
        <p:spPr>
          <a:xfrm>
            <a:off x="820000" y="289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0000" y="295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20000" y="292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宽度16/32/64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0000" y="378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0000" y="384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20000" y="381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深度1/2/3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0000" y="4670000"/>
            <a:ext cx="620000" cy="62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000" y="4730000"/>
            <a:ext cx="62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600" b="1">
                <a:solidFill>
                  <a:srgbClr val="FFFFFF"/>
                </a:solidFill>
                <a:latin typeface="微软雅黑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20000" y="4700000"/>
            <a:ext cx="10000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600"/>
              </a:spcAft>
            </a:pPr>
            <a:r>
              <a:rPr sz="1400" b="0">
                <a:solidFill>
                  <a:srgbClr val="010328"/>
                </a:solidFill>
                <a:latin typeface="微软雅黑"/>
              </a:rPr>
              <a:t>表加结论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0000" y="5620000"/>
            <a:ext cx="10900000" cy="820000"/>
          </a:xfrm>
          <a:prstGeom prst="rect">
            <a:avLst/>
          </a:prstGeom>
          <a:solidFill>
            <a:srgbClr val="FDF0E6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0000" y="5720000"/>
            <a:ext cx="10500000" cy="52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1">
                <a:solidFill>
                  <a:srgbClr val="010328"/>
                </a:solidFill>
                <a:latin typeface="微软雅黑"/>
              </a:rPr>
              <a:t>✔ 达标标准: 找到性价比最优结构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32 / 39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常见错误速查（避坑清单）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8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0000" y="19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loss为nan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50000" y="19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学习率过大或未标准化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9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StandardScaler加lr调小</a:t>
            </a:r>
          </a:p>
        </p:txBody>
      </p:sp>
      <p:sp>
        <p:nvSpPr>
          <p:cNvPr id="10" name="Rectangle 9"/>
          <p:cNvSpPr/>
          <p:nvPr/>
        </p:nvSpPr>
        <p:spPr>
          <a:xfrm>
            <a:off x="760000" y="31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0000" y="31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000" y="32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训练不动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50000" y="32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特征量纲悬殊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2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先标准化再进网络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60000" y="4400000"/>
            <a:ext cx="10900000" cy="1180000"/>
          </a:xfrm>
          <a:prstGeom prst="rect">
            <a:avLst/>
          </a:prstGeom>
          <a:solidFill>
            <a:srgbClr val="FFFFFF"/>
          </a:solidFill>
          <a:ln>
            <a:solidFill>
              <a:srgbClr val="C9D4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60000" y="4400000"/>
            <a:ext cx="3000000" cy="1180000"/>
          </a:xfrm>
          <a:prstGeom prst="rect">
            <a:avLst/>
          </a:prstGeom>
          <a:solidFill>
            <a:srgbClr val="FDF0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000" y="4500000"/>
            <a:ext cx="2800000" cy="9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00" b="1">
                <a:solidFill>
                  <a:srgbClr val="F5670F"/>
                </a:solidFill>
                <a:latin typeface="微软雅黑"/>
              </a:rPr>
              <a:t>⚠ 早停太早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50000" y="4520000"/>
            <a:ext cx="24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原因: patience过小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0000" y="4520000"/>
            <a:ext cx="4900000" cy="94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200" b="0">
                <a:solidFill>
                  <a:srgbClr val="010328"/>
                </a:solidFill>
                <a:latin typeface="微软雅黑"/>
              </a:rPr>
              <a:t>✔ 解决: patience取5到10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33 / 39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0000" y="2650000"/>
            <a:ext cx="560000" cy="15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50000" y="2450000"/>
            <a:ext cx="9000000" cy="1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6600" b="1">
                <a:solidFill>
                  <a:srgbClr val="F5670F"/>
                </a:solidFill>
                <a:latin typeface="微软雅黑"/>
              </a:rPr>
              <a:t>06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200" b="1">
                <a:solidFill>
                  <a:srgbClr val="FFFFFF"/>
                </a:solidFill>
                <a:latin typeface="微软雅黑"/>
              </a:rPr>
              <a:t>检查与评价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750000" y="4600000"/>
            <a:ext cx="9000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600" b="0">
                <a:solidFill>
                  <a:srgbClr val="BBC6E6"/>
                </a:solidFill>
                <a:latin typeface="微软雅黑"/>
              </a:rPr>
              <a:t>三层质检 · 评分 · 课后</a:t>
            </a:r>
          </a:p>
        </p:txBody>
      </p:sp>
      <p:sp>
        <p:nvSpPr>
          <p:cNvPr id="6" name="Rectangle 5"/>
          <p:cNvSpPr/>
          <p:nvPr/>
        </p:nvSpPr>
        <p:spPr>
          <a:xfrm>
            <a:off x="810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6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922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5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78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71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40000" y="5900000"/>
            <a:ext cx="230000" cy="230000"/>
          </a:xfrm>
          <a:prstGeom prst="rect">
            <a:avLst/>
          </a:prstGeom>
          <a:solidFill>
            <a:srgbClr val="2A356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7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0">
                <a:solidFill>
                  <a:srgbClr val="6674A8"/>
                </a:solidFill>
                <a:latin typeface="微软雅黑"/>
              </a:rPr>
              <a:t>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00000" y="5900000"/>
            <a:ext cx="230000" cy="230000"/>
          </a:xfrm>
          <a:prstGeom prst="rect">
            <a:avLst/>
          </a:prstGeom>
          <a:solidFill>
            <a:srgbClr val="F5670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830000" y="6200000"/>
            <a:ext cx="440000" cy="28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900" b="1">
                <a:solidFill>
                  <a:srgbClr val="F5670F"/>
                </a:solidFill>
                <a:latin typeface="微软雅黑"/>
              </a:rPr>
              <a:t>06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34 / 39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过程检查（三层质检）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1  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对照工单checklist逐项自查并截图留证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5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2  互检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5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组间交换检查，互检表记录问题≥1条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800000" y="2300000"/>
            <a:ext cx="3300000" cy="2600000"/>
          </a:xfrm>
          <a:prstGeom prst="rect">
            <a:avLst/>
          </a:prstGeom>
          <a:solidFill>
            <a:srgbClr val="FFFFFF"/>
          </a:solidFill>
          <a:ln>
            <a:solidFill>
              <a:srgbClr val="0545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00000" y="2450000"/>
            <a:ext cx="33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000" b="1">
                <a:solidFill>
                  <a:srgbClr val="0545E8"/>
                </a:solidFill>
                <a:latin typeface="微软雅黑"/>
              </a:rPr>
              <a:t>3  师查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00000" y="3200000"/>
            <a:ext cx="2900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3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教师抽查复核，重点盯D层完成度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0000" y="5200000"/>
            <a:ext cx="1080000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F5670F"/>
                </a:solidFill>
                <a:latin typeface="微软雅黑"/>
              </a:rPr>
              <a:t>复盘追问：如果当初选另一个方案，结果会怎样？（决策追责）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35 / 39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提交物与评分（工单M2-3a）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800000"/>
            <a:ext cx="5300000" cy="38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0545E8"/>
                </a:solidFill>
                <a:latin typeface="微软雅黑"/>
              </a:rPr>
              <a:t>提交清单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1. 程序/notebook（含运行输出）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2. 分层工单纸件（勾层+自评）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3. 决策矩阵照片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4. 过程记录/避坑笔记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00" b="0">
                <a:solidFill>
                  <a:srgbClr val="44546A"/>
                </a:solidFill>
                <a:latin typeface="微软雅黑"/>
              </a:rPr>
              <a:t>命名: 学号_姓名_M2-3a</a:t>
            </a:r>
          </a:p>
        </p:txBody>
      </p:sp>
      <p:sp>
        <p:nvSpPr>
          <p:cNvPr id="7" name="Rectangle 6"/>
          <p:cNvSpPr/>
          <p:nvPr/>
        </p:nvSpPr>
        <p:spPr>
          <a:xfrm>
            <a:off x="6350000" y="1800000"/>
            <a:ext cx="5300000" cy="3800000"/>
          </a:xfrm>
          <a:prstGeom prst="rect">
            <a:avLst/>
          </a:prstGeom>
          <a:solidFill>
            <a:srgbClr val="FFFFFF"/>
          </a:solidFill>
          <a:ln>
            <a:solidFill>
              <a:srgbClr val="F5670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50000" y="1950000"/>
            <a:ext cx="4900000" cy="3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500" b="1">
                <a:solidFill>
                  <a:srgbClr val="F5670F"/>
                </a:solidFill>
                <a:latin typeface="微软雅黑"/>
              </a:rPr>
              <a:t>评分构成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功能完成 40%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技术质量 25%（指标达标）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代码规范 20%（PEP 8）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00" b="0">
                <a:solidFill>
                  <a:srgbClr val="010328"/>
                </a:solidFill>
                <a:latin typeface="微软雅黑"/>
              </a:rPr>
              <a:t>工程素养 15%（留痕/协作）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250" b="1">
                <a:solidFill>
                  <a:srgbClr val="44546A"/>
                </a:solidFill>
                <a:latin typeface="微软雅黑"/>
              </a:rPr>
              <a:t>D≥60 / C≥70 / B≥80 / A≥90</a:t>
            </a:r>
          </a:p>
        </p:txBody>
      </p:sp>
      <p:sp>
        <p:nvSpPr>
          <p:cNvPr id="9" name="Rectangle 8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36 / 39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素养目标（课程思政融入点）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60000" y="220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责任感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00000" y="206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可信AI：模型要有据可查，指标不许造假</a:t>
            </a:r>
          </a:p>
        </p:txBody>
      </p:sp>
      <p:sp>
        <p:nvSpPr>
          <p:cNvPr id="9" name="Rectangle 8"/>
          <p:cNvSpPr/>
          <p:nvPr/>
        </p:nvSpPr>
        <p:spPr>
          <a:xfrm>
            <a:off x="760000" y="318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0000" y="318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60000" y="348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工匠精神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00000" y="334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工程纪律：限时调参与过程留痕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0000" y="4460000"/>
            <a:ext cx="10900000" cy="115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60000" y="4460000"/>
            <a:ext cx="1900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0000" y="4760000"/>
            <a:ext cx="1900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500" b="1">
                <a:solidFill>
                  <a:srgbClr val="FFFFFF"/>
                </a:solidFill>
                <a:latin typeface="微软雅黑"/>
              </a:rPr>
              <a:t>数据伦理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00000" y="4620000"/>
            <a:ext cx="86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  <a:spcAft>
                <a:spcPts val="600"/>
              </a:spcAft>
            </a:pPr>
            <a:r>
              <a:rPr sz="1350" b="0">
                <a:solidFill>
                  <a:srgbClr val="010328"/>
                </a:solidFill>
                <a:latin typeface="微软雅黑"/>
              </a:rPr>
              <a:t>团队与档案：竞标协作，档案袋沉淀三年资产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37 / 39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880360"/>
            <a:ext cx="12192000" cy="5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645920"/>
            <a:ext cx="12192000" cy="1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5400" b="1">
                <a:solidFill>
                  <a:srgbClr val="FFFFFF"/>
                </a:solidFill>
                <a:latin typeface="微软雅黑"/>
              </a:rPr>
              <a:t>THANKS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3429000"/>
            <a:ext cx="12192000" cy="8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2200" b="1">
                <a:solidFill>
                  <a:srgbClr val="F5670F"/>
                </a:solidFill>
                <a:latin typeface="微软雅黑"/>
              </a:rPr>
              <a:t>感谢聆听 · 动手实践出真知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4526280"/>
            <a:ext cx="12192000" cy="6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400" b="0">
                <a:solidFill>
                  <a:srgbClr val="BBC6E6"/>
                </a:solidFill>
                <a:latin typeface="微软雅黑"/>
              </a:rPr>
              <a:t>以生为本   |   做中学 · 学中做</a:t>
            </a:r>
          </a:p>
        </p:txBody>
      </p:sp>
      <p:sp>
        <p:nvSpPr>
          <p:cNvPr id="7" name="Rectangle 6"/>
          <p:cNvSpPr/>
          <p:nvPr/>
        </p:nvSpPr>
        <p:spPr>
          <a:xfrm>
            <a:off x="500000" y="6500000"/>
            <a:ext cx="11100000" cy="20000"/>
          </a:xfrm>
          <a:prstGeom prst="rect">
            <a:avLst/>
          </a:prstGeom>
          <a:solidFill>
            <a:srgbClr val="C9D4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0000" y="6540000"/>
            <a:ext cx="7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两江智造集团 · AI应用基础48课时版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0000" y="6540000"/>
            <a:ext cx="1000000" cy="3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8A97B5"/>
                </a:solidFill>
                <a:latin typeface="微软雅黑"/>
              </a:rPr>
              <a:t>38 / 39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1150000"/>
          </a:xfrm>
          <a:prstGeom prst="rect">
            <a:avLst/>
          </a:prstGeom>
          <a:solidFill>
            <a:srgbClr val="0103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50000"/>
            <a:ext cx="2600000" cy="7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00000" y="300000"/>
            <a:ext cx="10792000" cy="7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400" b="1">
                <a:solidFill>
                  <a:srgbClr val="FFFFFF"/>
                </a:solidFill>
                <a:latin typeface="微软雅黑"/>
              </a:rPr>
              <a:t>下次课预告（第9周）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760000" y="1900000"/>
            <a:ext cx="10900000" cy="1600000"/>
          </a:xfrm>
          <a:prstGeom prst="rect">
            <a:avLst/>
          </a:prstGeom>
          <a:solidFill>
            <a:srgbClr val="F3F6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60000" y="1900000"/>
            <a:ext cx="150000" cy="1600000"/>
          </a:xfrm>
          <a:prstGeom prst="rect">
            <a:avLst/>
          </a:prstGeom>
          <a:solidFill>
            <a:srgbClr val="F5670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20000" y="2050000"/>
            <a:ext cx="10500000" cy="1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>
                <a:solidFill>
                  <a:srgbClr val="010328"/>
                </a:solidFill>
                <a:latin typeface="微软雅黑"/>
              </a:rPr>
              <a:t>主题: 能按题完成CNN或LSTM建模——应用：见工单s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>
                <a:solidFill>
                  <a:srgbClr val="44546A"/>
                </a:solidFill>
                <a:latin typeface="微软雅黑"/>
              </a:rPr>
              <a:t>预习快问: W8课中查①：'loss为nan'这个报错怎么排查？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0000" y="3900000"/>
            <a:ext cx="1090000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400" b="1">
                <a:solidFill>
                  <a:srgbClr val="0545E8"/>
                </a:solidFill>
                <a:latin typeface="微软雅黑"/>
              </a:rPr>
              <a:t>课前完成：导学单 + 预习自测 + starter环境自检</a:t>
            </a:r>
          </a:p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>
                <a:solidFill>
                  <a:srgbClr val="44546A"/>
                </a:solidFill>
                <a:latin typeface="微软雅黑"/>
              </a:rPr>
              <a:t>带着问题来上课——Predict先于Run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W08-第10次课-MLP神经网络（下）：优</dc:title>
  <dc:subject>AI48授课PPT（v9风格+讲稿）</dc:subject>
  <dc:creator>工业互联网应用专业教学资源库</dc:creator>
  <cp:keywords>两江智造;AI48;岗课赛证创;课程思政;双创中心302</cp:keywords>
  <dc:description>48课时扩展版·每页备注为教师讲稿</dc:description>
  <cp:lastModifiedBy>Steve Canny</cp:lastModifiedBy>
  <cp:revision>1</cp:revision>
  <dcterms:created xsi:type="dcterms:W3CDTF">2026-09-09T00:00:00Z</dcterms:created>
  <dcterms:modified xsi:type="dcterms:W3CDTF">2026-09-09T00:00:00Z</dcterms:modified>
  <cp:category>高职高专教学文件</cp:category>
</cp:coreProperties>
</file>