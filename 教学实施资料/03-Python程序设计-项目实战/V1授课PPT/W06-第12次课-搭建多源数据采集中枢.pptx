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6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64469"/>
            <a:ext cx="5029200" cy="392906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777240"/>
            <a:ext cx="3480389" cy="289559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3480389" cy="289559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Python程序设计（项目实战） · 8周·32课时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9436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9A227"/>
                </a:solidFill>
                <a:latin typeface="Microsoft YaHei"/>
                <a:ea typeface="Microsoft YaHei"/>
              </a:rPr>
              <a:t>W06 · 第12次课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85216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搭建多源数据采集中枢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1001361" cy="27749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001361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工单 P4.1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78601" y="3931920"/>
            <a:ext cx="1549400" cy="27749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78601" y="3931920"/>
            <a:ext cx="1549400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多源数据采集系统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43984"/>
            <a:ext cx="3318845" cy="253365"/>
          </a:xfrm>
          <a:prstGeom prst="roundRect">
            <a:avLst>
              <a:gd name="adj" fmla="val 50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4"/>
            <a:ext cx="3318845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本节（下）：优化与评价 · 复盘冲刺 + 三层质检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5669280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D4E4"/>
                </a:solidFill>
                <a:latin typeface="Microsoft YaHei"/>
                <a:ea typeface="Microsoft YaHei"/>
              </a:rPr>
              <a:t>3台PLC+云端MQTT并发接入。三线程骨架已给；2号PLC会随机掉线——正好实测重连。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C99B5"/>
                </a:solidFill>
                <a:latin typeface="Microsoft YaHei"/>
                <a:ea typeface="Microsoft YaHei"/>
              </a:rPr>
              <a:t>重庆两江智造集团 · 双创中心302实训室 · V1重制版（easyslides规范）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课前回顾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W06-12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02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61697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61697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RECAP · 课前五分钟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上次课你带走了什么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先测后讲：两道口头快答，答不上就翻回上节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44752"/>
            <a:ext cx="603504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76656" y="1572768"/>
            <a:ext cx="777240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1572768"/>
            <a:ext cx="77724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快答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1865376"/>
            <a:ext cx="56235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Queue满了put会怎样？daemon=True管什么？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2414016"/>
            <a:ext cx="562356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提示：回看上节'四要素详解'页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39128" y="1444752"/>
            <a:ext cx="4977079" cy="141732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58584" y="1554480"/>
            <a:ext cx="4538167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B5E54"/>
                </a:solidFill>
                <a:latin typeface="Microsoft YaHei"/>
                <a:ea typeface="Microsoft YaHei"/>
              </a:rPr>
              <a:t>本周重点回顾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8584" y="1920240"/>
            <a:ext cx="4538167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· 多源采集——重点：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8584" y="2359152"/>
            <a:ext cx="4538167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· Modbus/MQTT协议集成；多线程架构设计（采集/订阅…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39128" y="2999232"/>
            <a:ext cx="4977079" cy="1207008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58584" y="3108960"/>
            <a:ext cx="4538167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8A6D1D"/>
                </a:solidFill>
                <a:latin typeface="Microsoft YaHei"/>
                <a:ea typeface="Microsoft YaHei"/>
              </a:rPr>
              <a:t>上节最容易踩的坑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58584" y="3456432"/>
            <a:ext cx="4538167" cy="67665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>
                <a:solidFill>
                  <a:srgbClr val="8A6D1D"/>
                </a:solidFill>
                <a:latin typeface="Microsoft YaHei"/>
                <a:ea typeface="Microsoft YaHei"/>
              </a:rPr>
              <a:t>交互后变慢：没缓存
</a:t>
            </a:r>
            <a:r>
              <a:rPr sz="1100" b="0">
                <a:solidFill>
                  <a:srgbClr val="17855A"/>
                </a:solidFill>
                <a:latin typeface="Microsoft YaHei"/>
                <a:ea typeface="Microsoft YaHei"/>
              </a:rPr>
              <a:t>修法：@st.cache_data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4443984"/>
            <a:ext cx="11240719" cy="1097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4562856"/>
            <a:ext cx="1088136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本节（下）：优化与评价——错误复盘 + B/A层冲刺 + 三层质检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4983480"/>
            <a:ext cx="10881360" cy="47548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C6E6A"/>
                </a:solidFill>
                <a:latin typeface="Microsoft YaHei"/>
                <a:ea typeface="Microsoft YaHei"/>
              </a:rPr>
              <a:t>本节主线：线程并发；Queue线程安全传送带——应用：见工单star… / put/get超时防死等——应用：见工单starter与教… / 退避重试1→2→4s封顶——应用：见工单starter与教…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W06-12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03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GOALS &amp;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这节课结束时，你能做到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目标可测量：及格线/优秀线写在工单上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3612794" cy="82296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知识目标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掌握Modbus寄存器读写流程；掌握MQTT主题设计与QoS机制；理解多线程并发与Queue线程安全原理。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检验：口头复述+快答2题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450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9450" y="1389888"/>
            <a:ext cx="3612794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8906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能力目标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能够开发多线程多源采集系统（采集率≥95%优秀≥99.5%）；能够处理断线重连与数据缓冲；代码PEP 8≥75%。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4042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检验：工单运行通过+截图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412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3412" y="1389888"/>
            <a:ext cx="3612794" cy="82296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2868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素质目标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2868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建立“系统稳定性”工程意识（7×24运行思维），培养并发编程的严谨性（线程安全、资源释放）。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8004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7732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检验：同桌互查代码规范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3950208"/>
            <a:ext cx="11240719" cy="159105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78224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B5E54"/>
                </a:solidFill>
                <a:latin typeface="Microsoft YaHei"/>
                <a:ea typeface="Microsoft YaHei"/>
              </a:rPr>
              <a:t>课堂节奏（80分钟）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535424"/>
            <a:ext cx="1215542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535424"/>
            <a:ext cx="1215542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1.MQTTSubsc…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13834" y="4535424"/>
            <a:ext cx="110784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13834" y="4535424"/>
            <a:ext cx="110784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2.Processor…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77860" y="4535424"/>
            <a:ext cx="1678635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77860" y="4535424"/>
            <a:ext cx="1678635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3.30秒统计输出采集率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5084064"/>
            <a:ext cx="10692079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节奏纪律：讲10分钟必须动手一次；实操环节教师只答疑不代写——卡住先查《报错翻译对照表》，再举手。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知识精讲 · 讲透每个概念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本章聚焦：多源采集——重点： · Modbus/MQTT协议集成；多…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退避重试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("退避重试=失败后指数等待再试：1s→2s→4s，配上限（3次）…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daemon守护线程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('daemon=True守护线程：主线程退出时守护线程随之被杀—…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对账公式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('对账公式：收到条数==发送条数-重试中-死信数——收发存三方数…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W06-12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W06-12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05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B04 退避重试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指数退避=敲门礼仪：1s没应等2s再4s——封顶8s不轰炸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原理：退避重试=失败后指数等待再试：1s→2s→4s，配上限（3次）——2号PLC这种'戏精'设备专治方案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P4.1核心考点：2号PLC随机掉线必须重连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怎么判断：网络抖动类瞬时故障用重试自愈；硬件真坏重试也无用（区分可自愈/不可自愈错误是工程判断）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delay=min(delay*2, 8)——间隔翻倍不爆炸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逐行看：for i in range(3): try: connect(); break; except: time.sleep(2**i) 1,2,4秒退避——加上抖动random.uniform…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误区：无退避疯狂重试=DDOS自己——掉线风暴越试越瘫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进阶：retrying库装饰器一行搞定；重试期间线程让出CPU（sleep不占核）；最终失败进死信队列人工介入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W06-12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06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退避重试：一张图看懂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899701"/>
            <a:ext cx="7278624" cy="26836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1166b0d4870492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27133"/>
            <a:ext cx="7223760" cy="26288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先想清楚数据从哪来到哪去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每一步只做一件事，错了好定位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追问：误区：无退避疯狂重试=DDOS自己——掉线风暴越试越瘫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一句话：指数退避=敲门礼仪：1s没应等2s再4s——封顶8s不轰炸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何时用：P4.1核心考点：2号PLC随机掉线必须重连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W06-12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07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B05 daemon守护线程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daemon=True=随主灯灭的值夜班——主程序退出它跟着退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原理：daemon=True守护线程：主线程退出时守护线程随之被杀——采集程序主流程结束，后台线程不阻挠进程退出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Ctrl+C后采集进程能干净退出不留后台僵尸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怎么判断：心跳上报/日志刷盘这类'陪跑'线程设daemon；但需要优雅收尾的线程（要flush数据的）不能daemon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t = threading.Thread(target=worker, daemon=True)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逐行看：t=threading.Thread(target=beat,daemon=True) 开工即声明守护——主线程收工全部一起散场，进程不挂起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误区：守护线程里放'必须写完'的落库逻辑——可能中途被掐断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进阶：非守护线程用Event优雅停：stop_event.set()通知循环退出——'善终'与'陪葬'按线程职责选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W06-12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08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daemon守护线程：一张图看懂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899701"/>
            <a:ext cx="7278624" cy="26836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35048702a902d8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27133"/>
            <a:ext cx="7223760" cy="26288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先想清楚数据从哪来到哪去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每一步只做一件事，错了好定位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追问：误区：守护线程里放'必须写完'的落库逻辑——可能中途被掐断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一句话：daemon=True=随主灯灭的值夜班——主程序退出它跟着退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何时用：Ctrl+C后采集进程能干净退出不留后台僵尸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W06-12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09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B06 对账公式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对账=钱货两清：源计数=入库+异常+丢弃，一条不差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原理：对账公式：收到条数==发送条数-重试中-死信数——收发存三方数字咬合，任何一环丢数立刻对不上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采集完整性的数学表达——工单验收硬指标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怎么判断：每班次结束自动对账：采集端计数器vs中台入库数——差一条就报警，不靠用户发现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assert total_src == total_db + total_err + total_drop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逐行看：sent=counter['send']; received=db.count(); retrying=len(backup_queue); assert sent==received+re…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误区：只报采集条数不对账——丢的行去哪了说不清等于失控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进阶：对账报表进日报（发送/接收/重试/死信四数）；消息ID幂等去重（重试可能双发）——对账与幂等双保险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W06-12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10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对账公式：一张图看懂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899701"/>
            <a:ext cx="7278624" cy="26836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33f6247d93990b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27133"/>
            <a:ext cx="7223760" cy="26288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先想清楚数据从哪来到哪去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每一步只做一件事，错了好定位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追问：误区：只报采集条数不对账——丢的行去哪了说不清等于失控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一句话：对账=钱货两清：源计数=入库+异常+丢弃，一条不差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何时用：采集完整性的数学表达——工单验收硬指标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技能实操 · 代码跑起来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本章聚焦：多源采集——重点： · Modbus/MQTT协议集成；多…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退避重连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backoff =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三线程骨架贯通(采集/…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三线程骨架贯通(采集/订阅/处理)——应用：见工单starter与…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断线重连实测(2号PL…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断线重连实测(2号PLC掉线)——应用：见工单starter与教师…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采集率统计与提升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采集率统计与提升——应用：见工单starter与教师参考实现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815584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815584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815584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架构图绘制入工单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15584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架构图绘制入工单——应用：见工单starter与教师参考实现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本章产出：四要素详解页×5 · 图解页×3 · 可跟打代码页×2 · 工单与分层工单各1份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W06-12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W06-12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12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退避重连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代码节选 · 依赖工单/starter 上下文（课堂跟打 starter 看完整运行）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0C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backoff = 1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while not stop.is_set():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got = False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for host, port in PLCS: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    if read_one(host, port): got = True; stat["ok"] += 1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    else: stat["fail"] += 1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backoff = 1 if got else min(backoff*2, 4)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time.sleep(0.5 if got else backoff)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本段引用工单上下文变量（starter 已备好）——跟打 starter 后取消注释对应行即可复现。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避坑指南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W06-12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13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DEBUG · 常见报错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报错翻译：程序'说'了什么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报错是程序在说话——先读最后一行，再往上找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11240719" cy="457200"/>
          </a:xfrm>
          <a:prstGeom prst="roundRect">
            <a:avLst>
              <a:gd name="adj" fmla="val 55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463040"/>
            <a:ext cx="27889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报错/现象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463040"/>
            <a:ext cx="37490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为什么会这样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463040"/>
            <a:ext cx="39776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怎么修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47088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938528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Ctrl+C退不出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938528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没设daemon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938528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daemon=True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80360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3F8F6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971800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Queue满卡死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2971800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put无超时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2971800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put(timeout=1)+丢弃计数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9136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005072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线程日志混乱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4005072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无名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4005072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Thread(name='Modbus')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992624"/>
            <a:ext cx="11240719" cy="71323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① 读最后一行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报错类型+行号都在这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② 定位变量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NameError=没定义/拼错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③ 最小复现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注释一半再跑，二分找错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工单实战 · 按单交付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本章聚焦：多源采集——重点： · Modbus/MQTT协议集成；多…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按工单步骤逐项打勾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及格/优秀线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D/C保底 · B/A冲刺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A/B/C/D分层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按当前水平选起点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W06-12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工单实战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W06-12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15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WORK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工单 P4.1 · 多源数据采集系统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按单交付：及格线保底，优秀线冲刺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583680" cy="470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499616"/>
            <a:ext cx="603504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9202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202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1901952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MQTTSubscriber订阅device/+/status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505456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505456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2487168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Processor去重+告警+SQLite批量入库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0906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906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3072384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30秒统计输出采集率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4526280"/>
            <a:ext cx="6035040" cy="138988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4617720"/>
            <a:ext cx="566928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验收清单（教师按此打分）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" y="4992624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928616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程序运行无报错，输出与示例一致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6" y="5303520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239512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截图含完整运行结果与文件名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6" y="5614416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5550408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变量命名规范率达标（snake_case）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87768" y="1371600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25512" y="1499616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4A63"/>
                </a:solidFill>
                <a:latin typeface="Microsoft YaHei"/>
                <a:ea typeface="Microsoft YaHei"/>
              </a:rPr>
              <a:t>及格线 · D/C层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25512" y="1865376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>三源贯通+无丢失+系统文档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25512" y="2779776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检查方式：运行+截图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87768" y="3246119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25512" y="3374135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C9A227"/>
                </a:solidFill>
                <a:latin typeface="Microsoft YaHei"/>
                <a:ea typeface="Microsoft YaHei"/>
              </a:rPr>
              <a:t>优秀线 · B/A层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3739895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>≥99.5%+延迟&lt;100ms+线程安全设计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25512" y="4654295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检查方式：运行+规范+答辩追问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87768" y="5138928"/>
            <a:ext cx="4428439" cy="941832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25512" y="5257800"/>
            <a:ext cx="397123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提交物</a:t>
            </a: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
代码文件+运行截图+工单决策记录（上传学习平台）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工单实战 · 完成效果图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W06-12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16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84596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84596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TARGET · 完成后长这样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P4.1 采集上报完成态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工单交付的'标准照'——做到与图中一致即达标（数字可因随机种子略有差异）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2172010"/>
            <a:ext cx="7918704" cy="1727596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hot_w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199442"/>
            <a:ext cx="7863840" cy="16727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567928" y="1463040"/>
            <a:ext cx="314827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四个自检点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67928" y="192024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14232" y="201168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14232" y="201168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200253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PLC1五寄存器读取成功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67928" y="262890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714232" y="27203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4232" y="27203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71119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MQTT上报≥3条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67928" y="333756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714232" y="342900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14232" y="342900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41985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断线重连生效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67928" y="404622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714232" y="413766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14232" y="413766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412851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数值÷10还原正确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230368"/>
            <a:ext cx="786384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" y="5330952"/>
            <a:ext cx="749807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怎么看：终端退出码0+关键数字在及格线以上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截图提交：运行窗口含文件名与输出，截全屏交工单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分层任务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W06-12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17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58666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58666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A/B/C/D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同一工单，四条爬梯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按当前水平选起点，D层保底人人可交付，A层给足挑战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2686735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 层 · 挑战层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高可用演示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36976"/>
            <a:ext cx="1433761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36976"/>
            <a:ext cx="1433761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达标：≥99.5%+监控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主备采集切换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实时统计小面板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8小时稳定跑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0392B"/>
                </a:solidFill>
                <a:latin typeface="Microsoft YaHei"/>
                <a:ea typeface="Microsoft YaHei"/>
              </a:rPr>
              <a:t>卡壳&gt;10分钟→降B层，先拿过程分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6815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26815" y="1389888"/>
            <a:ext cx="2686735" cy="777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9695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B 层 · 进阶层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695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完整多源系统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9695" y="3236976"/>
            <a:ext cx="1316103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9695" y="3236976"/>
            <a:ext cx="1316103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达标：≥95%+文档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9695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补全read_one+on_message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9695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断线重连调通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9695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10分钟统计截图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695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9A227"/>
                </a:solidFill>
                <a:latin typeface="Microsoft YaHei"/>
                <a:ea typeface="Microsoft YaHei"/>
              </a:rPr>
              <a:t>完成C层后冲刺：先跑通再优化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8143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8143" y="1389888"/>
            <a:ext cx="2686735" cy="77724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1023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C 层 · 基础层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1023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单源贯通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1023" y="3236976"/>
            <a:ext cx="1334008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1023" y="3236976"/>
            <a:ext cx="1334008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达标：数据能入库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1023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Modbus采集跑通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1023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Queue到Processor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1023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SQLite见记录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1023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0B5E54"/>
                </a:solidFill>
                <a:latin typeface="Microsoft YaHei"/>
                <a:ea typeface="Microsoft YaHei"/>
              </a:rPr>
              <a:t>照示例改参数，跑通即得分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29471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29471" y="1389888"/>
            <a:ext cx="2686735" cy="777240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12351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D 层 · 保底层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2351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架构观察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2351" y="3236976"/>
            <a:ext cx="1334008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12351" y="3236976"/>
            <a:ext cx="1334008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达标：能画线程图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2351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跑演示notebook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2351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记录采集率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2351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手画三线程图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2351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A63"/>
                </a:solidFill>
                <a:latin typeface="Microsoft YaHei"/>
                <a:ea typeface="Microsoft YaHei"/>
              </a:rPr>
              <a:t>逐行跟打示例，跑通就是胜利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方案决策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W06-12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18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8022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8022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DECISION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决策：入库节奏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工程不是选最好的，是选当前约束下最划算的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11240719" cy="475488"/>
          </a:xfrm>
          <a:prstGeom prst="roundRect">
            <a:avLst>
              <a:gd name="adj" fmla="val 55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策略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2122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丢失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9028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性能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92808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逐条写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0410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7316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3008376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3F8F6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批量50/5s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0410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7316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4169664"/>
            <a:ext cx="11240719" cy="68580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4270248"/>
            <a:ext cx="107835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0B5E54"/>
                </a:solidFill>
                <a:latin typeface="Microsoft YaHei"/>
                <a:ea typeface="Microsoft YaHei"/>
              </a:rPr>
              <a:t>决策纪律：决策结论写入工单，答辩必答；实施失误回溯决策复盘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课堂检查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W06-12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19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CHECK · 当堂验收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做完不算完，验过才算数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教师抽查 + 同桌互查 + 运行截图三选二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1545336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45336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856232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1B2B28"/>
                </a:solidFill>
                <a:latin typeface="Microsoft YaHei"/>
                <a:ea typeface="Microsoft YaHei"/>
              </a:rPr>
              <a:t>Queue满了put会怎样？daemon=True管什么？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423160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59168" y="1417320"/>
            <a:ext cx="4657039" cy="2615184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96912" y="1536192"/>
            <a:ext cx="419983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5E54"/>
                </a:solidFill>
                <a:latin typeface="Microsoft YaHei"/>
                <a:ea typeface="Microsoft YaHei"/>
              </a:rPr>
              <a:t>当堂评分构成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96912" y="19933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96912" y="1993392"/>
            <a:ext cx="768096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5168" y="19476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运行通过 40%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96912" y="24505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96912" y="24505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8" y="2404872"/>
            <a:ext cx="209671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规范与注释 20%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6912" y="29077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96912" y="29077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45168" y="28620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决策记录 20%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96912" y="33649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33649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45168" y="33192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互查反馈 20%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96912" y="3840480"/>
            <a:ext cx="4199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未过怎么办：当堂改→教师复核→记录到错题本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43708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498848"/>
            <a:ext cx="10881360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及格线：</a:t>
            </a: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三源贯通+无丢失+系统文档</a:t>
            </a: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
优秀线：</a:t>
            </a:r>
            <a:r>
              <a:rPr sz="1250" b="0">
                <a:solidFill>
                  <a:srgbClr val="F5C08A"/>
                </a:solidFill>
                <a:latin typeface="Microsoft YaHei"/>
                <a:ea typeface="Microsoft YaHei"/>
              </a:rPr>
              <a:t>≥99.5%+延迟&lt;100ms+线程安全设计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W06-12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20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2435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2435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一张图带走本课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讲给自己听一遍，才算真的学会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939" y="1389888"/>
            <a:ext cx="7450618" cy="39867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3903e3b25b3e01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1" y="1417320"/>
            <a:ext cx="7395754" cy="393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93608" y="1481328"/>
            <a:ext cx="342259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三句话总结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1920240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011680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退避重试：指数退避=敲门礼仪：1s没应等2s再4s——封…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3608" y="2907792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9912" y="301752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01752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999232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daemon守护线程：daemon=True=随主灯灭的值夜班——主…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3895344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39912" y="40050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40050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986784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对账公式：对账=钱货两清：源计数=入库+异常+丢弃，一条…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4882896"/>
            <a:ext cx="3422599" cy="1005840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4974336"/>
            <a:ext cx="305683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5285232"/>
            <a:ext cx="305683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①工单P4.1收尾跑绿并上传 ②错题本记1条 ③预习微课+导学单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课后与预告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W06-12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21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2368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2368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NEXT &amp; HOMEWORK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下课之后，上课之前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作业当堂布置当堂记：写进工单本，别靠脑子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585216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17904"/>
            <a:ext cx="530352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今日作业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56816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56816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1938528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1. 完成工单P4.1《多源工业数据采集系统》：及格标准采集率&gt;95%+无数据丢失；优秀标准≥99.5%+延迟&lt;100ms+告警完善；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523744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523744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2505456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2. 撰写系统架构文档（模块图+数据流图）；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090672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090672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3072384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3. 预习SQL基础与数据库设计方法。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526280"/>
            <a:ext cx="5349240" cy="7498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617720"/>
            <a:ext cx="50292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提交物：</a:t>
            </a: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学号_姓名_W06.py + 运行截图（含文件名）+ 工单决策记录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56248" y="1389888"/>
            <a:ext cx="5159959" cy="3977639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0568" y="1536192"/>
            <a:ext cx="46113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下次课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1956816"/>
            <a:ext cx="4611319" cy="9144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给产线数据安个家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3017520"/>
            <a:ext cx="461131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为什么接下来学它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0568" y="3364992"/>
            <a:ext cx="4611319" cy="1234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D8E1EC"/>
                </a:solidFill>
                <a:latin typeface="Microsoft YaHei"/>
                <a:ea typeface="Microsoft YaHei"/>
              </a:rPr>
              <a:t>数据落了地却没有家。吴工：'给数据建个仓库吧——设备、测点、记录、告警四张表。'——工单P5：ER设计+ORM开发+索引优化。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4663440"/>
            <a:ext cx="4611319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9D4E4"/>
                </a:solidFill>
                <a:latin typeface="Microsoft YaHei"/>
                <a:ea typeface="Microsoft YaHei"/>
              </a:rPr>
              <a:t>预习动作：微课视频 + 导学单先行；带着一个问题上考场。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596128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705856"/>
            <a:ext cx="108813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0B5E54"/>
                </a:solidFill>
                <a:latin typeface="Microsoft YaHei"/>
                <a:ea typeface="Microsoft YaHei"/>
              </a:rPr>
              <a:t>工具链：PyCharm CE（主编辑器） · Jupyter（实训） · Git/GitHub（每周提交） · conda环境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报错了？先查《报错翻译对照表》，再看微课'排错三步法'。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1648" y="1920240"/>
            <a:ext cx="4114800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92354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感谢垂听 · 动手出真知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10128"/>
            <a:ext cx="923544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D4E4"/>
                </a:solidFill>
                <a:latin typeface="Microsoft YaHei"/>
                <a:ea typeface="Microsoft YaHei"/>
              </a:rPr>
              <a:t>把今天的工单跑绿，就是给下周的自己铺路。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4160520"/>
            <a:ext cx="6858000" cy="1417320"/>
          </a:xfrm>
          <a:prstGeom prst="roundRect">
            <a:avLst>
              <a:gd name="adj" fmla="val 55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4279392"/>
            <a:ext cx="640080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课后三件事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4626864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1. 工单P4.1跑绿并上传学习平台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956048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2. 错题本记1条今天踩的坑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285232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3. 预习微课+导学单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779008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下次课 → 给产线数据安个家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419088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W06-12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搭建多源数据采集中枢</dc:title>
  <dc:subject/>
  <dc:creator>两江智造教学组</dc:creator>
  <cp:keywords/>
  <dc:description>V1.1 · easyslides 规范重制（页面充实版）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