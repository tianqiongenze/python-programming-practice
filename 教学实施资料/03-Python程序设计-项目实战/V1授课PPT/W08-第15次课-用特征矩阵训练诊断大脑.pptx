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W8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464469"/>
            <a:ext cx="5029200" cy="392906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40080" y="777240"/>
            <a:ext cx="3480389" cy="289559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777240"/>
            <a:ext cx="3480389" cy="289559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Python程序设计（项目实战） · 8周·32课时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81328"/>
            <a:ext cx="5943600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C9A227"/>
                </a:solidFill>
                <a:latin typeface="Microsoft YaHei"/>
                <a:ea typeface="Microsoft YaHei"/>
              </a:rPr>
              <a:t>W08 · 第15次课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29968"/>
            <a:ext cx="5852160" cy="9144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用特征矩阵训练诊断大脑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931920"/>
            <a:ext cx="1001361" cy="277495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931920"/>
            <a:ext cx="1001361" cy="27749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工单 P6.1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778601" y="3931920"/>
            <a:ext cx="1239774" cy="27749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78601" y="3931920"/>
            <a:ext cx="1239774" cy="27749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故障诊断模型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443984"/>
            <a:ext cx="3287748" cy="253365"/>
          </a:xfrm>
          <a:prstGeom prst="roundRect">
            <a:avLst>
              <a:gd name="adj" fmla="val 50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443984"/>
            <a:ext cx="3287748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本节（上）：基础实现 · 概念打底 + D/C层保底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956048"/>
            <a:ext cx="5669280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C9D4E4"/>
                </a:solidFill>
                <a:latin typeface="Microsoft YaHei"/>
                <a:ea typeface="Microsoft YaHei"/>
              </a:rPr>
              <a:t>课程收官：P2.2特征→诊断模型(F1≥0.80)接入P5库；预训练缺陷模型本地推理服务化。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989320"/>
            <a:ext cx="1088136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8C99B5"/>
                </a:solidFill>
                <a:latin typeface="Microsoft YaHei"/>
                <a:ea typeface="Microsoft YaHei"/>
              </a:rPr>
              <a:t>重庆两江智造集团 · 双创中心302实训室 · V1重制版（easyslides规范）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课程定位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W08-15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02 /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142039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14203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COURSE MAP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这门课站在哪：定位与出路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四年后你手里的证书与岗位，都从这门课出发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06059" cy="1920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192024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1517904"/>
            <a:ext cx="504885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B5E54"/>
                </a:solidFill>
                <a:latin typeface="Microsoft YaHei"/>
                <a:ea typeface="Microsoft YaHei"/>
              </a:rPr>
              <a:t>课程性质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1938528"/>
            <a:ext cx="4993995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B2B28"/>
                </a:solidFill>
                <a:latin typeface="Microsoft YaHei"/>
                <a:ea typeface="Microsoft YaHei"/>
              </a:rPr>
              <a:t>自包含工程应用课：C语言底子直接上工业项目（P1-P7任务链）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0147" y="1371600"/>
            <a:ext cx="5506059" cy="1920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0147" y="1371600"/>
            <a:ext cx="64008" cy="19202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66179" y="1517904"/>
            <a:ext cx="504885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B5E54"/>
                </a:solidFill>
                <a:latin typeface="Microsoft YaHei"/>
                <a:ea typeface="Microsoft YaHei"/>
              </a:rPr>
              <a:t>面向岗位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6179" y="1938528"/>
            <a:ext cx="4993995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B2B28"/>
                </a:solidFill>
                <a:latin typeface="Microsoft YaHei"/>
                <a:ea typeface="Microsoft YaHei"/>
              </a:rPr>
              <a:t>数据工程师 / 数据分析 / AI应用 / 采集技术员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" y="3456432"/>
            <a:ext cx="5506059" cy="1920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75488" y="3456432"/>
            <a:ext cx="64008" cy="192024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602736"/>
            <a:ext cx="504885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B5E54"/>
                </a:solidFill>
                <a:latin typeface="Microsoft YaHei"/>
                <a:ea typeface="Microsoft YaHei"/>
              </a:rPr>
              <a:t>对接证书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023360"/>
            <a:ext cx="4993995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B2B28"/>
                </a:solidFill>
                <a:latin typeface="Microsoft YaHei"/>
                <a:ea typeface="Microsoft YaHei"/>
              </a:rPr>
              <a:t>Python开发 · 数据应用与服务（1+X）· AI应用实践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0147" y="3456432"/>
            <a:ext cx="5506059" cy="1920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10147" y="3456432"/>
            <a:ext cx="64008" cy="19202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66179" y="3602736"/>
            <a:ext cx="504885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B5E54"/>
                </a:solidFill>
                <a:latin typeface="Microsoft YaHei"/>
                <a:ea typeface="Microsoft YaHei"/>
              </a:rPr>
              <a:t>课程衔接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66179" y="4023360"/>
            <a:ext cx="4993995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B2B28"/>
                </a:solidFill>
                <a:latin typeface="Microsoft YaHei"/>
                <a:ea typeface="Microsoft YaHei"/>
              </a:rPr>
              <a:t>前置仅需C语言 → 本课8周 → 后：毕业设计/平台实习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5488" y="5468112"/>
            <a:ext cx="11240719" cy="896112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4944" y="5559552"/>
            <a:ext cx="54864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B5E54"/>
                </a:solidFill>
                <a:latin typeface="Microsoft YaHei"/>
                <a:ea typeface="Microsoft YaHei"/>
              </a:rPr>
              <a:t>本课程路线图（当前周高亮）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94944" y="5888736"/>
            <a:ext cx="1313649" cy="365760"/>
          </a:xfrm>
          <a:prstGeom prst="roundRect">
            <a:avLst>
              <a:gd name="adj" fmla="val 18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4944" y="5888736"/>
            <a:ext cx="131364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W1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C→Py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045169" y="5888736"/>
            <a:ext cx="1313649" cy="365760"/>
          </a:xfrm>
          <a:prstGeom prst="roundRect">
            <a:avLst>
              <a:gd name="adj" fmla="val 18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045169" y="5888736"/>
            <a:ext cx="131364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W2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工程规范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395395" y="5888736"/>
            <a:ext cx="1313649" cy="365760"/>
          </a:xfrm>
          <a:prstGeom prst="roundRect">
            <a:avLst>
              <a:gd name="adj" fmla="val 18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395395" y="5888736"/>
            <a:ext cx="131364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W3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Pand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745621" y="5888736"/>
            <a:ext cx="1313649" cy="365760"/>
          </a:xfrm>
          <a:prstGeom prst="roundRect">
            <a:avLst>
              <a:gd name="adj" fmla="val 18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45621" y="5888736"/>
            <a:ext cx="131364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W4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NumP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095847" y="5888736"/>
            <a:ext cx="1313649" cy="365760"/>
          </a:xfrm>
          <a:prstGeom prst="roundRect">
            <a:avLst>
              <a:gd name="adj" fmla="val 18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095847" y="5888736"/>
            <a:ext cx="131364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W5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交互式仪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446073" y="5888736"/>
            <a:ext cx="1313649" cy="365760"/>
          </a:xfrm>
          <a:prstGeom prst="roundRect">
            <a:avLst>
              <a:gd name="adj" fmla="val 18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446073" y="5888736"/>
            <a:ext cx="131364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W6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多线程采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796299" y="5888736"/>
            <a:ext cx="1313649" cy="365760"/>
          </a:xfrm>
          <a:prstGeom prst="roundRect">
            <a:avLst>
              <a:gd name="adj" fmla="val 18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796299" y="5888736"/>
            <a:ext cx="131364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W7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数据库设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146525" y="5888736"/>
            <a:ext cx="1313649" cy="365760"/>
          </a:xfrm>
          <a:prstGeom prst="roundRect">
            <a:avLst>
              <a:gd name="adj" fmla="val 18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146525" y="5888736"/>
            <a:ext cx="131364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W8</a:t>
            </a:r>
            <a:r>
              <a:rPr sz="800" b="0">
                <a:solidFill>
                  <a:srgbClr val="F0E6D8"/>
                </a:solidFill>
                <a:latin typeface="Microsoft YaHei"/>
                <a:ea typeface="Microsoft YaHei"/>
              </a:rPr>
              <a:t>
Scik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剧情情境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W08-15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03 /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738541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738541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SCENARIO · 两江智造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车间今天发生了什么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连续剧情 · 你（小郑）的第15次出场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6" y="1598485"/>
            <a:ext cx="4261104" cy="3340989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W8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625917"/>
            <a:ext cx="4206240" cy="3286125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4910328" y="1417320"/>
            <a:ext cx="6805879" cy="2423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910328" y="1417320"/>
            <a:ext cx="6805879" cy="914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84648" y="1691640"/>
            <a:ext cx="6257239" cy="19202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0">
                <a:solidFill>
                  <a:srgbClr val="1B2B28"/>
                </a:solidFill>
                <a:latin typeface="Microsoft YaHei"/>
                <a:ea typeface="Microsoft YaHei"/>
              </a:rPr>
              <a:t>课程收官：P2.2特征→诊断模型(F1≥0.80)接入P5库；预训练缺陷模型本地推理服务化。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10328" y="4005072"/>
            <a:ext cx="6805879" cy="1600200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138928" y="4160520"/>
            <a:ext cx="960120" cy="241300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38928" y="4160520"/>
            <a:ext cx="960120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本课工单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4133088"/>
            <a:ext cx="520567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B28"/>
                </a:solidFill>
                <a:latin typeface="Microsoft YaHei"/>
                <a:ea typeface="Microsoft YaHei"/>
              </a:rPr>
              <a:t>P6.1 · 故障诊断模型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38928" y="4636008"/>
            <a:ext cx="960120" cy="241300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38928" y="4636008"/>
            <a:ext cx="960120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交付要点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4608576"/>
            <a:ext cx="520567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B28"/>
                </a:solidFill>
                <a:latin typeface="Microsoft YaHei"/>
                <a:ea typeface="Microsoft YaHei"/>
              </a:rPr>
              <a:t>五步流: 划分→训练→交叉验证→调参→保存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138928" y="5111496"/>
            <a:ext cx="960120" cy="241300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38928" y="5111496"/>
            <a:ext cx="960120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交付要点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084064"/>
            <a:ext cx="520567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B28"/>
                </a:solidFill>
                <a:latin typeface="Microsoft YaHei"/>
                <a:ea typeface="Microsoft YaHei"/>
              </a:rPr>
              <a:t>混淆矩阵+报告(F1≥0.80)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38928" y="5303520"/>
            <a:ext cx="1280160" cy="2743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5C6E6A"/>
                </a:solidFill>
                <a:latin typeface="Microsoft YaHei"/>
                <a:ea typeface="Microsoft YaHei"/>
              </a:rPr>
              <a:t>出场人物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08776" y="5266944"/>
            <a:ext cx="714756" cy="241300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08776" y="5266944"/>
            <a:ext cx="71475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方总监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033260" y="5266944"/>
            <a:ext cx="580136" cy="241300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033260" y="5266944"/>
            <a:ext cx="58013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吴工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23124" y="5266944"/>
            <a:ext cx="580136" cy="241300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23124" y="5266944"/>
            <a:ext cx="58013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小郑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W08-15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04 /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GOALS &amp; 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这节课结束时，你能做到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目标可测量：及格线/优秀线写在工单上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89888"/>
            <a:ext cx="3612794" cy="82296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知识目标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掌握Scikit-learn分类建模全流程；理解交叉验证与混淆矩阵的评估方法；了解迁移学习与ONNX部署的基本概念。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C6E6A"/>
                </a:solidFill>
                <a:latin typeface="Microsoft YaHei"/>
                <a:ea typeface="Microsoft YaHei"/>
              </a:rPr>
              <a:t>检验：口头复述+快答2题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89450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89450" y="1389888"/>
            <a:ext cx="3612794" cy="82296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08906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能力目标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08906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能够用P2.2特征训练故障诊断模型（F1≥0.80）；能够将模型封装为推理服务并测试性能；完成前后项目的系统集成。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54042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63770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C6E6A"/>
                </a:solidFill>
                <a:latin typeface="Microsoft YaHei"/>
                <a:ea typeface="Microsoft YaHei"/>
              </a:rPr>
              <a:t>检验：工单运行通过+截图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03412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03412" y="1389888"/>
            <a:ext cx="3612794" cy="82296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2868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素质目标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2868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建立“数据→特征→模型→服务”的端到端工程视野，培养模型版本管理与可复现的工程规范意识。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68004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77732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C6E6A"/>
                </a:solidFill>
                <a:latin typeface="Microsoft YaHei"/>
                <a:ea typeface="Microsoft YaHei"/>
              </a:rPr>
              <a:t>检验：同桌互查代码规范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" y="3950208"/>
            <a:ext cx="11240719" cy="159105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" y="4078224"/>
            <a:ext cx="548640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B5E54"/>
                </a:solidFill>
                <a:latin typeface="Microsoft YaHei"/>
                <a:ea typeface="Microsoft YaHei"/>
              </a:rPr>
              <a:t>课堂节奏（80分钟）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9808" y="4535424"/>
            <a:ext cx="1468628" cy="241300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" y="4535424"/>
            <a:ext cx="1468628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1.五步流: 划分→训…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13834" y="4535424"/>
            <a:ext cx="1511706" cy="241300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13834" y="4535424"/>
            <a:ext cx="151170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2.混淆矩阵+报告(F…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877860" y="4535424"/>
            <a:ext cx="1188618" cy="241300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77860" y="4535424"/>
            <a:ext cx="1188618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3.joblib保存m…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9808" y="5084064"/>
            <a:ext cx="10692079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节奏纪律：讲10分钟必须动手一次；实操环节教师只答疑不代写——卡住先查《报错翻译对照表》，再举手。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C9A227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知识精讲 · 讲透每个概念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本章聚焦：机器学习应用——重点： · 分类建模五步流程；交叉验证与F1评… · 难点：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405993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405993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405993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建模五步流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05993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('建模五步流=定任务(分类/回归)→划分(train/test)…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55371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55371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55371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混淆矩阵业务化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55371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('混淆矩阵业务化：四格翻译成钱——误报(虚惊)白跑一趟200元、…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504748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504748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504748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F1与交叉验证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04748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('F1=精确率与召回率的调和平均（短板拉分），交叉验证=k折轮流…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9A227"/>
                </a:solidFill>
                <a:latin typeface="Microsoft YaHei"/>
                <a:ea typeface="Microsoft YaHei"/>
              </a:rPr>
              <a:t>本章产出：四要素详解页×3 · 图解页×3 · 可跟打代码页×2 · 工单与分层工单各1份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Python程序设计（项目实战） · V1 · W08-15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W08-15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06 /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B01 建模五步流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五步流=产线SOP：划分→训练→交叉验证→调参→joblib保存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原理：建模五步流=定任务(分类/回归)→划分(train/test)→训练fit→评估(测试集)→落盘joblib——顺序错则全错（先看测试集再调参=作弊）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scikit-learn标准作业程序——顺序即纪律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怎么判断：任何监督学习任务按五步走：任务不清不建模、测试集只在最后碰一次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Consolas"/>
                <a:ea typeface="Microsoft YaHei"/>
              </a:rPr>
              <a:t>joblib.dump(model, 'model_v20260926.joblib')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Consolas"/>
                <a:ea typeface="Microsoft YaHei"/>
              </a:rPr>
              <a:t>逐行看：X_train,X_test,y_train,y_test=train_test_split(X,y,test_size=0.2,stratify=y) 分层划分；clf.fit(X_tra…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误区：模型文件叫model.pkl——带版本/日期命名，回滚审计全靠它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进阶：分层抽样保类别比例（不平衡数据必加）；随机种子random_state=42可复现；五步各产出物写进实验记录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知识精讲 · 图解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W08-15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07 /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VISUAL · B01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建模五步流：一张图看懂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图优先：先看图再回头读代码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49314" y="1362456"/>
            <a:ext cx="6676108" cy="375818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ae3ad025b3146af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746" y="1389888"/>
            <a:ext cx="6621244" cy="37033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27848" y="1463040"/>
            <a:ext cx="378835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四个观察点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7848" y="1920240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415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11680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两条线张口越大越危险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7848" y="2736342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74152" y="284607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284607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827782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early stopping 在拐点收手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7848" y="3552444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74152" y="36621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36621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643884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追问：误区：模型文件叫model.pkl——带版本/日期命名，回滚审计全靠它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5230368"/>
            <a:ext cx="722376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5330952"/>
            <a:ext cx="68580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1B2B28"/>
                </a:solidFill>
                <a:latin typeface="Microsoft YaHei"/>
                <a:ea typeface="Microsoft YaHei"/>
              </a:rPr>
              <a:t>一句话：五步流=产线SOP：划分→训练→交叉验证→调参→joblib保存</a:t>
            </a: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
何时用：scikit-learn标准作业程序——顺序即纪律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W08-15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08 /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B02 混淆矩阵业务化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混淆矩阵=体检报告四格：对角线判对；FN漏检与FP误报代价不对称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原理：混淆矩阵业务化：四格翻译成钱——误报(虚惊)白跑一趟200元、漏报(漏检)停线2万——矩阵每格贴上业务代价，选型才有依据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故障诊断评估不能只看准确率——错在哪类才关键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怎么判断：汇报不能只报准确率：把混淆矩阵换算成'每月损失/收益'——管理层听得懂的语言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Consolas"/>
                <a:ea typeface="Microsoft YaHei"/>
              </a:rPr>
              <a:t>FN=漏报真故障(代价高) → 阈值向召回偏移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Consolas"/>
                <a:ea typeface="Microsoft YaHei"/>
              </a:rPr>
              <a:t>逐行看：cm=[[46,4],[3,47]]; 误报4×200+漏报3×20000=60800元代价 —— 同准确率不同代价，决策树若漏报更少则业务更优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误区：把混淆矩阵翻译成钱——漏检损失vs误报停机损失，算给业务听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进阶：代价敏感学习class_weight调权重让模型'怕漏报'；阈值前移（降判故障阈值）以误报换漏报——工程旋钮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知识精讲 · 图解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W08-15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09 /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VISUAL · B02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混淆矩阵业务化：一张图看懂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图优先：先看图再回头读代码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80092" y="1362456"/>
            <a:ext cx="7014551" cy="375818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17a705eb697b9d5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524" y="1389888"/>
            <a:ext cx="6959687" cy="37033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27848" y="1463040"/>
            <a:ext cx="378835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四个观察点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7848" y="1920240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415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11680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一张图纸可造多台设备（实例化）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7848" y="2736342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74152" y="284607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284607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827782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属性=铭牌；方法=操作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7848" y="3552444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74152" y="36621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36621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643884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追问：误区：把混淆矩阵翻译成钱——漏检损失vs误报停机损失，算给业务听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5230368"/>
            <a:ext cx="722376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5330952"/>
            <a:ext cx="68580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1B2B28"/>
                </a:solidFill>
                <a:latin typeface="Microsoft YaHei"/>
                <a:ea typeface="Microsoft YaHei"/>
              </a:rPr>
              <a:t>一句话：混淆矩阵=体检报告四格：对角线判对；FN漏检与FP误报代价不对称</a:t>
            </a: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
何时用：故障诊断评估不能只看准确率——错在哪类才关键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W08-15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10 /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B03 F1与交叉验证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F1=精确与召回的调和平均（谁短谁说了算）；CV=5防一次划分运气好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原理：F1=精确率与召回率的调和平均（短板拉分），交叉验证=k折轮流当测试集——单一划分的运气成分被平均掉，结论更稳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类别不平衡(故障样本少)时的诚实指标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怎么判断：样本量小（几百条）时单次80%可能是运气——5折交叉验证均值±波动才是可信成绩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Consolas"/>
                <a:ea typeface="Microsoft YaHei"/>
              </a:rPr>
              <a:t>cross_val_score(model, X, y, cv=5).mean()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Consolas"/>
                <a:ea typeface="Microsoft YaHei"/>
              </a:rPr>
              <a:t>逐行看：from sklearn.model_selection import cross_val_score; cross_val_score(clf,X,y,cv=5,scoring='f1')…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误区：单次划分90%就报喜——五折均值才有说服力，方差也要报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进阶：StratifiedKFold不平衡数据保比例；留一法LOO小样本极限版；网格搜索里的cv参数同一机制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知识精讲 · 图解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W08-15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11 /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VISUAL · B03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F1与交叉验证：一张图看懂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图优先：先看图再回头读代码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80092" y="1362456"/>
            <a:ext cx="7014551" cy="375818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355ef3c8f52c26b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524" y="1389888"/>
            <a:ext cx="6959687" cy="37033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27848" y="1463040"/>
            <a:ext cx="378835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四个观察点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7848" y="1920240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415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11680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一张图纸可造多台设备（实例化）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7848" y="2736342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74152" y="284607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284607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827782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属性=铭牌；方法=操作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7848" y="3552444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74152" y="36621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36621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643884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追问：误区：单次划分90%就报喜——五折均值才有说服力，方差也要报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5230368"/>
            <a:ext cx="722376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5330952"/>
            <a:ext cx="68580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1B2B28"/>
                </a:solidFill>
                <a:latin typeface="Microsoft YaHei"/>
                <a:ea typeface="Microsoft YaHei"/>
              </a:rPr>
              <a:t>一句话：F1=精确与召回的调和平均（谁短谁说了算）；CV=5防一次划分运气好</a:t>
            </a: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
何时用：类别不平衡(故障样本少)时的诚实指标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C9A227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技能实操 · 代码跑起来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本章聚焦：机器学习应用——重点： · 分类建模五步流程；交叉验证与F1评… · 难点：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384048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3840480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3840480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推理服务核心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3840480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def do_POST(self):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33425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33425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33425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诊断模型训练与F1达标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33425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诊断模型训练与F1达标——应用：见工单starter与教师参考实现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482803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482803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482803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模型接入P5库联动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82803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模型接入P5库联动——应用：见工单starter与教师参考实现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32180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32180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6120" y="532180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推理服务封装与压测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532180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推理服务封装与压测——应用：见工单starter与教师参考实现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651760" y="5815584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88920" y="5815584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46120" y="5815584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特征顺序对齐校验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5815584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特征顺序对齐校验——应用：见工单starter与教师参考实现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9A227"/>
                </a:solidFill>
                <a:latin typeface="Microsoft YaHei"/>
                <a:ea typeface="Microsoft YaHei"/>
              </a:rPr>
              <a:t>本章产出：四要素详解页×5 · 图解页×3 · 可跟打代码页×2 · 工单与分层工单各1份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Python程序设计（项目实战） · V1 · W08-15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技能实操 · 可执行代码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W08-15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13 /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966764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96676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CODE LAB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推理服务核心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已实跑验证 · 退出码 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6171907" cy="4754880"/>
          </a:xfrm>
          <a:prstGeom prst="roundRect">
            <a:avLst>
              <a:gd name="adj" fmla="val 4500"/>
            </a:avLst>
          </a:prstGeom>
          <a:solidFill>
            <a:srgbClr val="0C1B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3504" y="1453896"/>
            <a:ext cx="2103120" cy="237744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" y="1453896"/>
            <a:ext cx="2103120" cy="23774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 示例 · 可跟打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1764792"/>
            <a:ext cx="5879299" cy="42702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def do_POST(self):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    body = json.loads(self.rfile.read(int(self.headers["Content-Length"])))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    feats = body["features"]; assert len(feats) == 30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    pred = int(model.predict([feats])[0])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    self._send(200, {"prediction": pred,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                     "label": "磨损" if pred else "正常"})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66851" y="1371600"/>
            <a:ext cx="4849355" cy="4754880"/>
          </a:xfrm>
          <a:prstGeom prst="roundRect">
            <a:avLst>
              <a:gd name="adj" fmla="val 4500"/>
            </a:avLst>
          </a:prstGeom>
          <a:solidFill>
            <a:srgbClr val="1014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994867" y="1463040"/>
            <a:ext cx="82296" cy="82296"/>
          </a:xfrm>
          <a:prstGeom prst="ellipse">
            <a:avLst/>
          </a:prstGeom>
          <a:solidFill>
            <a:srgbClr val="E06C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122883" y="1463040"/>
            <a:ext cx="82296" cy="82296"/>
          </a:xfrm>
          <a:prstGeom prst="ellipse">
            <a:avLst/>
          </a:prstGeom>
          <a:solidFill>
            <a:srgbClr val="E5C0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250899" y="1463040"/>
            <a:ext cx="82296" cy="82296"/>
          </a:xfrm>
          <a:prstGeom prst="ellipse">
            <a:avLst/>
          </a:prstGeom>
          <a:solidFill>
            <a:srgbClr val="98C3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33779" y="1426464"/>
            <a:ext cx="3386315" cy="23774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98C379"/>
                </a:solidFill>
                <a:latin typeface="Consolas"/>
                <a:ea typeface="Microsoft YaHei"/>
              </a:rPr>
              <a:t>terminal — 真实运行输出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13155" y="1755648"/>
            <a:ext cx="4556747" cy="43708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A8D4B7"/>
                </a:solidFill>
                <a:latin typeface="Consolas"/>
                <a:ea typeface="Microsoft YaHei"/>
              </a:rPr>
              <a:t>（无输出）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避坑指南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W08-15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14 /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75628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75628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DEBUG · 常见报错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报错翻译：程序'说'了什么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报错是程序在说话——先读最后一行，再往上找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11240719" cy="457200"/>
          </a:xfrm>
          <a:prstGeom prst="roundRect">
            <a:avLst>
              <a:gd name="adj" fmla="val 55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" y="1463040"/>
            <a:ext cx="2788920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报错/现象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38728" y="1463040"/>
            <a:ext cx="3749039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为什么会这样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24928" y="1463040"/>
            <a:ext cx="3977639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怎么修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1847088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" y="1938528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预测恒同一类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1938528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特征顺序错位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24928" y="1938528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feature_names.json对齐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" y="2880360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3F8F6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" y="2971800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模型加载失败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38728" y="2971800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版本不匹配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24928" y="2971800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记录sklearn版本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" y="3913632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" y="4005072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服务卡死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38728" y="4005072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单线程长阻塞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24928" y="4005072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教学够用/生产Litestar+Granian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5488" y="4992624"/>
            <a:ext cx="11240719" cy="713232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40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B5E54"/>
                </a:solidFill>
                <a:latin typeface="Microsoft YaHei"/>
                <a:ea typeface="Microsoft YaHei"/>
              </a:rPr>
              <a:t>① 读最后一行  </a:t>
            </a: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报错类型+行号都在这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616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B5E54"/>
                </a:solidFill>
                <a:latin typeface="Microsoft YaHei"/>
                <a:ea typeface="Microsoft YaHei"/>
              </a:rPr>
              <a:t>② 定位变量  </a:t>
            </a: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NameError=没定义/拼错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192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B5E54"/>
                </a:solidFill>
                <a:latin typeface="Microsoft YaHei"/>
                <a:ea typeface="Microsoft YaHei"/>
              </a:rPr>
              <a:t>③ 最小复现  </a:t>
            </a: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注释一半再跑，二分找错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C9A227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工单实战 · 按单交付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本章聚焦：机器学习应用——重点： · 分类建模五步流程；交叉验证与F1评… · 难点：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405993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405993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405993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交付清单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05993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按工单步骤逐项打勾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55371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55371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55371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及格/优秀线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55371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D/C保底 · B/A冲刺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504748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504748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504748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A/B/C/D分层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04748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按当前水平选起点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9A227"/>
                </a:solidFill>
                <a:latin typeface="Microsoft YaHei"/>
                <a:ea typeface="Microsoft YaHei"/>
              </a:rPr>
              <a:t>本章产出：四要素详解页×3 · 图解页×3 · 可跟打代码页×2 · 工单与分层工单各1份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Python程序设计（项目实战） · V1 · W08-15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工单实战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W08-15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16 /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142039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14203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WORK ORDER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工单 P6.1 · 故障诊断模型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按单交付：及格线保底，优秀线冲刺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6583680" cy="4709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1499616"/>
            <a:ext cx="6035040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交付清单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192024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192024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25296" y="1901952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五步流: 划分→训练→交叉验证→调参→保存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2505456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2505456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25296" y="2487168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混淆矩阵+报告(F1≥0.80)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30906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30906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25296" y="3072384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joblib保存model_v1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9808" y="4526280"/>
            <a:ext cx="6035040" cy="1389888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0976" y="4617720"/>
            <a:ext cx="5669280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B5E54"/>
                </a:solidFill>
                <a:latin typeface="Microsoft YaHei"/>
                <a:ea typeface="Microsoft YaHei"/>
              </a:rPr>
              <a:t>验收清单（教师按此打分）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50976" y="4992624"/>
            <a:ext cx="146304" cy="146304"/>
          </a:xfrm>
          <a:prstGeom prst="rect">
            <a:avLst/>
          </a:prstGeom>
          <a:noFill/>
          <a:ln w="15240">
            <a:solidFill>
              <a:srgbClr val="0B5E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88720" y="4928616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B2B28"/>
                </a:solidFill>
                <a:latin typeface="Microsoft YaHei"/>
                <a:ea typeface="Microsoft YaHei"/>
              </a:rPr>
              <a:t>程序运行无报错，输出与示例一致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50976" y="5303520"/>
            <a:ext cx="146304" cy="146304"/>
          </a:xfrm>
          <a:prstGeom prst="rect">
            <a:avLst/>
          </a:prstGeom>
          <a:noFill/>
          <a:ln w="15240">
            <a:solidFill>
              <a:srgbClr val="0B5E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88720" y="5239512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B2B28"/>
                </a:solidFill>
                <a:latin typeface="Microsoft YaHei"/>
                <a:ea typeface="Microsoft YaHei"/>
              </a:rPr>
              <a:t>截图含完整运行结果与文件名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50976" y="5614416"/>
            <a:ext cx="146304" cy="146304"/>
          </a:xfrm>
          <a:prstGeom prst="rect">
            <a:avLst/>
          </a:prstGeom>
          <a:noFill/>
          <a:ln w="15240">
            <a:solidFill>
              <a:srgbClr val="0B5E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88720" y="5550408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B2B28"/>
                </a:solidFill>
                <a:latin typeface="Microsoft YaHei"/>
                <a:ea typeface="Microsoft YaHei"/>
              </a:rPr>
              <a:t>变量命名规范率达标（snake_case）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287768" y="1371600"/>
            <a:ext cx="4428439" cy="1691640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25512" y="1499616"/>
            <a:ext cx="39712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3A4A63"/>
                </a:solidFill>
                <a:latin typeface="Microsoft YaHei"/>
                <a:ea typeface="Microsoft YaHei"/>
              </a:rPr>
              <a:t>及格线 · D/C层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25512" y="1865376"/>
            <a:ext cx="3925519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1B2B28"/>
                </a:solidFill>
                <a:latin typeface="Microsoft YaHei"/>
                <a:ea typeface="Microsoft YaHei"/>
              </a:rPr>
              <a:t>F1≥0.80并保存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25512" y="2779776"/>
            <a:ext cx="397123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C6E6A"/>
                </a:solidFill>
                <a:latin typeface="Microsoft YaHei"/>
                <a:ea typeface="Microsoft YaHei"/>
              </a:rPr>
              <a:t>检查方式：运行+截图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287768" y="3246119"/>
            <a:ext cx="4428439" cy="1691640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525512" y="3374135"/>
            <a:ext cx="39712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C9A227"/>
                </a:solidFill>
                <a:latin typeface="Microsoft YaHei"/>
                <a:ea typeface="Microsoft YaHei"/>
              </a:rPr>
              <a:t>优秀线 · B/A层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25512" y="3739895"/>
            <a:ext cx="3925519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1B2B28"/>
                </a:solidFill>
                <a:latin typeface="Microsoft YaHei"/>
                <a:ea typeface="Microsoft YaHei"/>
              </a:rPr>
              <a:t>对比+调参记录+接入数据库联动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25512" y="4654295"/>
            <a:ext cx="397123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C6E6A"/>
                </a:solidFill>
                <a:latin typeface="Microsoft YaHei"/>
                <a:ea typeface="Microsoft YaHei"/>
              </a:rPr>
              <a:t>检查方式：运行+规范+答辩追问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287768" y="5138928"/>
            <a:ext cx="4428439" cy="941832"/>
          </a:xfrm>
          <a:prstGeom prst="roundRect">
            <a:avLst>
              <a:gd name="adj" fmla="val 5500"/>
            </a:avLst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525512" y="5257800"/>
            <a:ext cx="3971239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C9A227"/>
                </a:solidFill>
                <a:latin typeface="Microsoft YaHei"/>
                <a:ea typeface="Microsoft YaHei"/>
              </a:rPr>
              <a:t>提交物</a:t>
            </a:r>
            <a:r>
              <a:rPr sz="1050" b="0">
                <a:solidFill>
                  <a:srgbClr val="D8E1EC"/>
                </a:solidFill>
                <a:latin typeface="Microsoft YaHei"/>
                <a:ea typeface="Microsoft YaHei"/>
              </a:rPr>
              <a:t>
代码文件+运行截图+工单决策记录（上传学习平台）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工单实战 · 完成效果图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W08-15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17 /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845967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845967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TARGET · 完成后长这样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P6 模型训练完成态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工单交付的'标准照'——做到与图中一致即达标（数字可因随机种子略有差异）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6" y="1892111"/>
            <a:ext cx="7918704" cy="228739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hot_w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919543"/>
            <a:ext cx="7863840" cy="223253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567928" y="1463040"/>
            <a:ext cx="314827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四个自检点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67928" y="1920240"/>
            <a:ext cx="3148279" cy="635508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714232" y="201168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14232" y="201168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98280" y="2002536"/>
            <a:ext cx="2416759" cy="50749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LR/RF双模型F1≥0.80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67928" y="2628900"/>
            <a:ext cx="3148279" cy="635508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714232" y="272034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14232" y="272034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98280" y="2711196"/>
            <a:ext cx="2416759" cy="50749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classification_report输出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567928" y="3337560"/>
            <a:ext cx="3148279" cy="635508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714232" y="342900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14232" y="342900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8280" y="3419856"/>
            <a:ext cx="2416759" cy="50749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model_v1.joblib已保存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567928" y="4046220"/>
            <a:ext cx="3148279" cy="635508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714232" y="413766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14232" y="413766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98280" y="4128516"/>
            <a:ext cx="2416759" cy="50749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退出码0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75488" y="5230368"/>
            <a:ext cx="786384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6656" y="5330952"/>
            <a:ext cx="7498079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1B2B28"/>
                </a:solidFill>
                <a:latin typeface="Microsoft YaHei"/>
                <a:ea typeface="Microsoft YaHei"/>
              </a:rPr>
              <a:t>怎么看：终端退出码0+关键数字在及格线以上</a:t>
            </a: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
截图提交：运行窗口含文件名与输出，截全屏交工单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分层任务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W08-15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18 /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58666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58666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A/B/C/D LAYERS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同一工单，四条爬梯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按当前水平选起点，D层保底人人可交付，A层给足挑战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89888"/>
            <a:ext cx="2686735" cy="7772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A 层 · 挑战层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2304288"/>
            <a:ext cx="2320975" cy="8412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ONNX对比+P7立项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236976"/>
            <a:ext cx="1461897" cy="229235"/>
          </a:xfrm>
          <a:prstGeom prst="roundRect">
            <a:avLst>
              <a:gd name="adj" fmla="val 5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3236976"/>
            <a:ext cx="1461897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B2B28"/>
                </a:solidFill>
                <a:latin typeface="Microsoft YaHei"/>
                <a:ea typeface="Microsoft YaHei"/>
              </a:rPr>
              <a:t>达标：延迟量化对比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3730752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导出ONNX测延迟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4297680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三模型对比报告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4864608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P7综合项目立项书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C0392B"/>
                </a:solidFill>
                <a:latin typeface="Microsoft YaHei"/>
                <a:ea typeface="Microsoft YaHei"/>
              </a:rPr>
              <a:t>卡壳&gt;10分钟→降B层，先拿过程分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26815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326815" y="1389888"/>
            <a:ext cx="2686735" cy="7772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09695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B 层 · 进阶层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09695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训练+服务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509695" y="3236976"/>
            <a:ext cx="1651172" cy="229235"/>
          </a:xfrm>
          <a:prstGeom prst="roundRect">
            <a:avLst>
              <a:gd name="adj" fmla="val 5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09695" y="3236976"/>
            <a:ext cx="1651172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B2B28"/>
                </a:solidFill>
                <a:latin typeface="Microsoft YaHei"/>
                <a:ea typeface="Microsoft YaHei"/>
              </a:rPr>
              <a:t>达标：F1≥0.80+可调用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09695" y="3730752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五步流训练保存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9695" y="4297680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接入数据库联动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9695" y="4864608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curl测试/predict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9695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C9A227"/>
                </a:solidFill>
                <a:latin typeface="Microsoft YaHei"/>
                <a:ea typeface="Microsoft YaHei"/>
              </a:rPr>
              <a:t>完成C层后冲刺：先跑通再优化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78143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78143" y="1389888"/>
            <a:ext cx="2686735" cy="77724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61023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C 层 · 基础层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61023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基线模型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61023" y="3236976"/>
            <a:ext cx="1492590" cy="229235"/>
          </a:xfrm>
          <a:prstGeom prst="roundRect">
            <a:avLst>
              <a:gd name="adj" fmla="val 5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61023" y="3236976"/>
            <a:ext cx="1492590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B2B28"/>
                </a:solidFill>
                <a:latin typeface="Microsoft YaHei"/>
                <a:ea typeface="Microsoft YaHei"/>
              </a:rPr>
              <a:t>达标：F1达标能保存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61023" y="3730752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RF训练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61023" y="4297680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混淆矩阵输出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61023" y="4864608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joblib保存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61023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0B5E54"/>
                </a:solidFill>
                <a:latin typeface="Microsoft YaHei"/>
                <a:ea typeface="Microsoft YaHei"/>
              </a:rPr>
              <a:t>照示例改参数，跑通即得分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029471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029471" y="1389888"/>
            <a:ext cx="2686735" cy="777240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212351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D 层 · 保底层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12351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调用体验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212351" y="3236976"/>
            <a:ext cx="1206119" cy="229235"/>
          </a:xfrm>
          <a:prstGeom prst="roundRect">
            <a:avLst>
              <a:gd name="adj" fmla="val 5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212351" y="3236976"/>
            <a:ext cx="1206119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B2B28"/>
                </a:solidFill>
                <a:latin typeface="Microsoft YaHei"/>
                <a:ea typeface="Microsoft YaHei"/>
              </a:rPr>
              <a:t>达标：能发请求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12351" y="3730752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加载预训练模型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12351" y="4297680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发一次预测请求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12351" y="4864608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看返回JSON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212351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3A4A63"/>
                </a:solidFill>
                <a:latin typeface="Microsoft YaHei"/>
                <a:ea typeface="Microsoft YaHei"/>
              </a:rPr>
              <a:t>逐行跟打示例，跑通就是胜利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方案决策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W08-15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19 /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580227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580227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DECISION MATRIX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决策：模型选型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工程不是选最好的，是选当前约束下最划算的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417320"/>
            <a:ext cx="11240719" cy="475488"/>
          </a:xfrm>
          <a:prstGeom prst="roundRect">
            <a:avLst>
              <a:gd name="adj" fmla="val 55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" y="1508760"/>
            <a:ext cx="3564026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模型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32122" y="1508760"/>
            <a:ext cx="3564026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精度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79028" y="1508760"/>
            <a:ext cx="3564026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速度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1892808"/>
            <a:ext cx="11240719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504" y="1947672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B2B28"/>
                </a:solidFill>
                <a:latin typeface="Microsoft YaHei"/>
                <a:ea typeface="Microsoft YaHei"/>
              </a:rPr>
              <a:t>逻辑回归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50410" y="1947672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B2B28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97316" y="1947672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C9A227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" y="3008376"/>
            <a:ext cx="11240719" cy="1051560"/>
          </a:xfrm>
          <a:prstGeom prst="roundRect">
            <a:avLst>
              <a:gd name="adj" fmla="val 5500"/>
            </a:avLst>
          </a:prstGeom>
          <a:solidFill>
            <a:srgbClr val="F3F8F6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3504" y="3063240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B2B28"/>
                </a:solidFill>
                <a:latin typeface="Microsoft YaHei"/>
                <a:ea typeface="Microsoft YaHei"/>
              </a:rPr>
              <a:t>随机森林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50410" y="3063240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B2B28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7316" y="3063240"/>
            <a:ext cx="3527450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C9A227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" y="4169664"/>
            <a:ext cx="11240719" cy="685800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4088" y="4270248"/>
            <a:ext cx="107835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0B5E54"/>
                </a:solidFill>
                <a:latin typeface="Microsoft YaHei"/>
                <a:ea typeface="Microsoft YaHei"/>
              </a:rPr>
              <a:t>决策纪律：决策结论写入工单，答辩必答；实施失误回溯决策复盘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课堂检查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W08-15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20 /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75628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75628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CHECK · 当堂验收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做完不算完，验过才算数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教师抽查 + 同桌互查 + 运行截图三选二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417320"/>
            <a:ext cx="6309360" cy="12984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94944" y="1545336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1545336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检查点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1856232"/>
            <a:ext cx="585216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1B2B28"/>
                </a:solidFill>
                <a:latin typeface="Microsoft YaHei"/>
                <a:ea typeface="Microsoft YaHei"/>
              </a:rPr>
              <a:t>过拟合的信号是什么？怎么防？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" y="2423160"/>
            <a:ext cx="58521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提示：答案都在本节'四要素详解'页——翻回去指给同桌看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59168" y="1417320"/>
            <a:ext cx="4657039" cy="2615184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96912" y="1536192"/>
            <a:ext cx="419983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B5E54"/>
                </a:solidFill>
                <a:latin typeface="Microsoft YaHei"/>
                <a:ea typeface="Microsoft YaHei"/>
              </a:rPr>
              <a:t>当堂评分构成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96912" y="19933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296912" y="1993392"/>
            <a:ext cx="768096" cy="2743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45168" y="19476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B28"/>
                </a:solidFill>
                <a:latin typeface="Microsoft YaHei"/>
                <a:ea typeface="Microsoft YaHei"/>
              </a:rPr>
              <a:t>运行通过 40%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96912" y="24505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296912" y="2450592"/>
            <a:ext cx="384048" cy="2743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45168" y="2404872"/>
            <a:ext cx="209671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B28"/>
                </a:solidFill>
                <a:latin typeface="Microsoft YaHei"/>
                <a:ea typeface="Microsoft YaHei"/>
              </a:rPr>
              <a:t>规范与注释 20%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96912" y="29077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296912" y="2907792"/>
            <a:ext cx="384048" cy="2743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45168" y="28620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B28"/>
                </a:solidFill>
                <a:latin typeface="Microsoft YaHei"/>
                <a:ea typeface="Microsoft YaHei"/>
              </a:rPr>
              <a:t>决策记录 20%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96912" y="33649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296912" y="3364992"/>
            <a:ext cx="384048" cy="2743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45168" y="33192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B28"/>
                </a:solidFill>
                <a:latin typeface="Microsoft YaHei"/>
                <a:ea typeface="Microsoft YaHei"/>
              </a:rPr>
              <a:t>互查反馈 20%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96912" y="3840480"/>
            <a:ext cx="41998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C6E6A"/>
                </a:solidFill>
                <a:latin typeface="Microsoft YaHei"/>
                <a:ea typeface="Microsoft YaHei"/>
              </a:rPr>
              <a:t>未过怎么办：当堂改→教师复核→记录到错题本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5488" y="4370832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" y="4498848"/>
            <a:ext cx="10881360" cy="7132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>
                <a:solidFill>
                  <a:srgbClr val="D8E1EC"/>
                </a:solidFill>
                <a:latin typeface="Microsoft YaHei"/>
                <a:ea typeface="Microsoft YaHei"/>
              </a:rPr>
              <a:t>及格线：</a:t>
            </a:r>
            <a:r>
              <a:rPr sz="1250" b="0">
                <a:solidFill>
                  <a:srgbClr val="FFFFFF"/>
                </a:solidFill>
                <a:latin typeface="Microsoft YaHei"/>
                <a:ea typeface="Microsoft YaHei"/>
              </a:rPr>
              <a:t>F1≥0.80并保存</a:t>
            </a:r>
            <a:r>
              <a:rPr sz="1250" b="1">
                <a:solidFill>
                  <a:srgbClr val="D8E1EC"/>
                </a:solidFill>
                <a:latin typeface="Microsoft YaHei"/>
                <a:ea typeface="Microsoft YaHei"/>
              </a:rPr>
              <a:t>
优秀线：</a:t>
            </a:r>
            <a:r>
              <a:rPr sz="1250" b="0">
                <a:solidFill>
                  <a:srgbClr val="F5C08A"/>
                </a:solidFill>
                <a:latin typeface="Microsoft YaHei"/>
                <a:ea typeface="Microsoft YaHei"/>
              </a:rPr>
              <a:t>对比+调参记录+接入数据库联动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W08-15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21 /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924359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92435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一张图带走本课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讲给自己听一遍，才算真的学会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4939" y="1389888"/>
            <a:ext cx="7450618" cy="398678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d3b2f5f067dc511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371" y="1417320"/>
            <a:ext cx="7395754" cy="39319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293608" y="1481328"/>
            <a:ext cx="342259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三句话总结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93608" y="1920240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43991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991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2011680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建模五步流：五步流=产线SOP：划分→训练→交叉验证→调参…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93608" y="2907792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439912" y="301752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39912" y="301752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23960" y="2999232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混淆矩阵业务化：混淆矩阵=体检报告四格：对角线判对；FN漏检与…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93608" y="3895344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439912" y="40050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39912" y="40050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23960" y="3986784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F1与交叉验证：F1=精确与召回的调和平均（谁短谁说了算）；C…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93608" y="4882896"/>
            <a:ext cx="3422599" cy="1005840"/>
          </a:xfrm>
          <a:prstGeom prst="roundRect">
            <a:avLst>
              <a:gd name="adj" fmla="val 5500"/>
            </a:avLst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76488" y="4974336"/>
            <a:ext cx="3056839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9A227"/>
                </a:solidFill>
                <a:latin typeface="Microsoft YaHei"/>
                <a:ea typeface="Microsoft YaHei"/>
              </a:rPr>
              <a:t>下一步行动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76488" y="5285232"/>
            <a:ext cx="3056839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D8E1EC"/>
                </a:solidFill>
                <a:latin typeface="Microsoft YaHei"/>
                <a:ea typeface="Microsoft YaHei"/>
              </a:rPr>
              <a:t>①工单P6.1收尾跑绿并上传 ②错题本记1条 ③预习微课+导学单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课后与预告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W08-15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22 / 23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523687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523687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NEXT &amp; HOMEWORK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下课之后，上课之前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作业当堂布置当堂记：写进工单本，别靠脑子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5852160" cy="397763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517904"/>
            <a:ext cx="5303520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今日作业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1956816"/>
            <a:ext cx="292608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1956816"/>
            <a:ext cx="292608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1288" y="1938528"/>
            <a:ext cx="493776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1. 完成工单P6.1《设备故障诊断模型》：及格标准F1≥0.80+接入数据库；优秀标准模型对比+调参优化+诊断报告；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523744"/>
            <a:ext cx="292608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2523744"/>
            <a:ext cx="292608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61288" y="2505456"/>
            <a:ext cx="493776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2. 完成工单P6.2《缺陷检测模型部署》：及格标准推理服务可用；优秀标准延迟达标+版本管理规范；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090672"/>
            <a:ext cx="292608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090672"/>
            <a:ext cx="292608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61288" y="3072384"/>
            <a:ext cx="493776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3. （选做）规划P7综合项目方案：智能产线监控/故障预测/供应链追溯/数据中台四选一。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526280"/>
            <a:ext cx="5349240" cy="749808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617720"/>
            <a:ext cx="502920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提交物：</a:t>
            </a:r>
            <a:r>
              <a:rPr sz="1050" b="0">
                <a:solidFill>
                  <a:srgbClr val="1B2B28"/>
                </a:solidFill>
                <a:latin typeface="Microsoft YaHei"/>
                <a:ea typeface="Microsoft YaHei"/>
              </a:rPr>
              <a:t>学号_姓名_W08.py + 运行截图（含文件名）+ 工单决策记录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56248" y="1389888"/>
            <a:ext cx="5159959" cy="3977639"/>
          </a:xfrm>
          <a:prstGeom prst="roundRect">
            <a:avLst>
              <a:gd name="adj" fmla="val 5500"/>
            </a:avLst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30568" y="1536192"/>
            <a:ext cx="46113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下次课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30568" y="1956816"/>
            <a:ext cx="4611319" cy="9144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把模型部署到产线边缘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30568" y="3017520"/>
            <a:ext cx="4611319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9A227"/>
                </a:solidFill>
                <a:latin typeface="Microsoft YaHei"/>
                <a:ea typeface="Microsoft YaHei"/>
              </a:rPr>
              <a:t>为什么接下来学它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30568" y="3364992"/>
            <a:ext cx="4611319" cy="12344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D8E1EC"/>
                </a:solidFill>
                <a:latin typeface="Microsoft YaHei"/>
                <a:ea typeface="Microsoft YaHei"/>
              </a:rPr>
              <a:t>方总监带着集团三年计划来验收P6：'模型不错，但数据还躺在十二个文件夹里。'他把服务器钥匙拍在桌上——工单P7：把台账、时序、拓扑、案例、模型串成一个'不睡觉的运维平台'，五库各司其职、缓存…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30568" y="4663440"/>
            <a:ext cx="4611319" cy="60350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C9D4E4"/>
                </a:solidFill>
                <a:latin typeface="Microsoft YaHei"/>
                <a:ea typeface="Microsoft YaHei"/>
              </a:rPr>
              <a:t>预习动作：微课视频 + 导学单先行；带着一个问题上考场。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75488" y="5596128"/>
            <a:ext cx="11240719" cy="777240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9808" y="5705856"/>
            <a:ext cx="1088136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0B5E54"/>
                </a:solidFill>
                <a:latin typeface="Microsoft YaHei"/>
                <a:ea typeface="Microsoft YaHei"/>
              </a:rPr>
              <a:t>工具链：PyCharm CE（主编辑器） · Jupyter（实训） · Git/GitHub（每周提交） · conda环境</a:t>
            </a: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
报错了？先查《报错翻译对照表》，再看微课'排错三步法'。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41648" y="1920240"/>
            <a:ext cx="4114800" cy="82296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2240280"/>
            <a:ext cx="9235440" cy="10058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>
                <a:solidFill>
                  <a:srgbClr val="FFFFFF"/>
                </a:solidFill>
                <a:latin typeface="Microsoft YaHei"/>
                <a:ea typeface="Microsoft YaHei"/>
              </a:rPr>
              <a:t>感谢垂听 · 动手出真知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3310128"/>
            <a:ext cx="9235440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C9D4E4"/>
                </a:solidFill>
                <a:latin typeface="Microsoft YaHei"/>
                <a:ea typeface="Microsoft YaHei"/>
              </a:rPr>
              <a:t>把今天的工单跑绿，就是给下周的自己铺路。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51760" y="4160520"/>
            <a:ext cx="6858000" cy="1417320"/>
          </a:xfrm>
          <a:prstGeom prst="roundRect">
            <a:avLst>
              <a:gd name="adj" fmla="val 55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80360" y="4279392"/>
            <a:ext cx="6400800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课后三件事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360" y="4626864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1. 工单P6.1跑绿并上传学习平台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360" y="4956048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2. 错题本记1条今天踩的坑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5285232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3. 预习微课+导学单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5779008"/>
            <a:ext cx="685800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9A227"/>
                </a:solidFill>
                <a:latin typeface="Microsoft YaHei"/>
                <a:ea typeface="Microsoft YaHei"/>
              </a:rPr>
              <a:t>下次课 → 把模型部署到产线边缘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6419088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Python程序设计（项目实战） · V1 · W08-15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用特征矩阵训练诊断大脑</dc:title>
  <dc:subject/>
  <dc:creator>两江智造教学组</dc:creator>
  <cp:keywords/>
  <dc:description>V1.1 · easyslides 规范重制（页面充实版）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