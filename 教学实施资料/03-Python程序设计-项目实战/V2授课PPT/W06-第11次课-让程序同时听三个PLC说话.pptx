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9" r:id="rId11"/>
    <p:sldId id="260" r:id="rId12"/>
    <p:sldId id="261" r:id="rId13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8" r:id="rId50"/>
    <p:sldId id="301" r:id="rId53"/>
    <p:sldId id="304" r:id="rId56"/>
    <p:sldId id="309" r:id="rId61"/>
    <p:sldId id="311" r:id="rId63"/>
    <p:sldId id="312" r:id="rId64"/>
    <p:sldId id="316" r:id="rId68"/>
    <p:sldId id="317" r:id="rId69"/>
    <p:sldId id="318" r:id="rId70"/>
    <p:sldId id="319" r:id="rId71"/>
    <p:sldId id="320" r:id="rId72"/>
    <p:sldId id="322" r:id="rId74"/>
    <p:sldId id="324" r:id="rId76"/>
    <p:sldId id="326" r:id="rId78"/>
    <p:sldId id="328" r:id="rId80"/>
    <p:sldId id="329" r:id="rId81"/>
    <p:sldId id="331" r:id="rId83"/>
    <p:sldId id="333" r:id="rId85"/>
    <p:sldId id="367" r:id="rId119"/>
    <p:sldId id="335" r:id="rId87"/>
    <p:sldId id="336" r:id="rId88"/>
    <p:sldId id="337" r:id="rId89"/>
    <p:sldId id="338" r:id="rId90"/>
    <p:sldId id="339" r:id="rId91"/>
    <p:sldId id="341" r:id="rId93"/>
    <p:sldId id="342" r:id="rId94"/>
    <p:sldId id="343" r:id="rId95"/>
    <p:sldId id="345" r:id="rId97"/>
    <p:sldId id="346" r:id="rId98"/>
    <p:sldId id="347" r:id="rId99"/>
    <p:sldId id="354" r:id="rId106"/>
    <p:sldId id="359" r:id="rId111"/>
    <p:sldId id="360" r:id="rId112"/>
    <p:sldId id="361" r:id="rId113"/>
    <p:sldId id="365" r:id="rId117"/>
    <p:sldId id="366" r:id="rId1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6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3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9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4" Type="http://schemas.openxmlformats.org/officeDocument/2006/relationships/slide" Target="slides/slide22.xml"/><Relationship Id="rId47" Type="http://schemas.openxmlformats.org/officeDocument/2006/relationships/slide" Target="slides/slide23.xml"/><Relationship Id="rId50" Type="http://schemas.openxmlformats.org/officeDocument/2006/relationships/slide" Target="slides/slide24.xml"/><Relationship Id="rId53" Type="http://schemas.openxmlformats.org/officeDocument/2006/relationships/slide" Target="slides/slide25.xml"/><Relationship Id="rId56" Type="http://schemas.openxmlformats.org/officeDocument/2006/relationships/slide" Target="slides/slide26.xml"/><Relationship Id="rId61" Type="http://schemas.openxmlformats.org/officeDocument/2006/relationships/slide" Target="slides/slide27.xml"/><Relationship Id="rId63" Type="http://schemas.openxmlformats.org/officeDocument/2006/relationships/slide" Target="slides/slide28.xml"/><Relationship Id="rId64" Type="http://schemas.openxmlformats.org/officeDocument/2006/relationships/slide" Target="slides/slide29.xml"/><Relationship Id="rId68" Type="http://schemas.openxmlformats.org/officeDocument/2006/relationships/slide" Target="slides/slide30.xml"/><Relationship Id="rId69" Type="http://schemas.openxmlformats.org/officeDocument/2006/relationships/slide" Target="slides/slide31.xml"/><Relationship Id="rId70" Type="http://schemas.openxmlformats.org/officeDocument/2006/relationships/slide" Target="slides/slide32.xml"/><Relationship Id="rId71" Type="http://schemas.openxmlformats.org/officeDocument/2006/relationships/slide" Target="slides/slide33.xml"/><Relationship Id="rId72" Type="http://schemas.openxmlformats.org/officeDocument/2006/relationships/slide" Target="slides/slide34.xml"/><Relationship Id="rId74" Type="http://schemas.openxmlformats.org/officeDocument/2006/relationships/slide" Target="slides/slide35.xml"/><Relationship Id="rId76" Type="http://schemas.openxmlformats.org/officeDocument/2006/relationships/slide" Target="slides/slide36.xml"/><Relationship Id="rId78" Type="http://schemas.openxmlformats.org/officeDocument/2006/relationships/slide" Target="slides/slide37.xml"/><Relationship Id="rId80" Type="http://schemas.openxmlformats.org/officeDocument/2006/relationships/slide" Target="slides/slide38.xml"/><Relationship Id="rId81" Type="http://schemas.openxmlformats.org/officeDocument/2006/relationships/slide" Target="slides/slide39.xml"/><Relationship Id="rId83" Type="http://schemas.openxmlformats.org/officeDocument/2006/relationships/slide" Target="slides/slide40.xml"/><Relationship Id="rId85" Type="http://schemas.openxmlformats.org/officeDocument/2006/relationships/slide" Target="slides/slide41.xml"/><Relationship Id="rId87" Type="http://schemas.openxmlformats.org/officeDocument/2006/relationships/slide" Target="slides/slide43.xml"/><Relationship Id="rId88" Type="http://schemas.openxmlformats.org/officeDocument/2006/relationships/slide" Target="slides/slide44.xml"/><Relationship Id="rId89" Type="http://schemas.openxmlformats.org/officeDocument/2006/relationships/slide" Target="slides/slide45.xml"/><Relationship Id="rId90" Type="http://schemas.openxmlformats.org/officeDocument/2006/relationships/slide" Target="slides/slide46.xml"/><Relationship Id="rId91" Type="http://schemas.openxmlformats.org/officeDocument/2006/relationships/slide" Target="slides/slide47.xml"/><Relationship Id="rId93" Type="http://schemas.openxmlformats.org/officeDocument/2006/relationships/slide" Target="slides/slide48.xml"/><Relationship Id="rId94" Type="http://schemas.openxmlformats.org/officeDocument/2006/relationships/slide" Target="slides/slide49.xml"/><Relationship Id="rId95" Type="http://schemas.openxmlformats.org/officeDocument/2006/relationships/slide" Target="slides/slide50.xml"/><Relationship Id="rId97" Type="http://schemas.openxmlformats.org/officeDocument/2006/relationships/slide" Target="slides/slide51.xml"/><Relationship Id="rId98" Type="http://schemas.openxmlformats.org/officeDocument/2006/relationships/slide" Target="slides/slide52.xml"/><Relationship Id="rId99" Type="http://schemas.openxmlformats.org/officeDocument/2006/relationships/slide" Target="slides/slide53.xml"/><Relationship Id="rId106" Type="http://schemas.openxmlformats.org/officeDocument/2006/relationships/slide" Target="slides/slide54.xml"/><Relationship Id="rId111" Type="http://schemas.openxmlformats.org/officeDocument/2006/relationships/slide" Target="slides/slide55.xml"/><Relationship Id="rId112" Type="http://schemas.openxmlformats.org/officeDocument/2006/relationships/slide" Target="slides/slide56.xml"/><Relationship Id="rId113" Type="http://schemas.openxmlformats.org/officeDocument/2006/relationships/slide" Target="slides/slide57.xml"/><Relationship Id="rId117" Type="http://schemas.openxmlformats.org/officeDocument/2006/relationships/slide" Target="slides/slide58.xml"/><Relationship Id="rId118" Type="http://schemas.openxmlformats.org/officeDocument/2006/relationships/slide" Target="slides/slide59.xml"/><Relationship Id="rId11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开场30秒：本次课《让程序同时听三个PLC说话》，80分钟＝2课时×40分钟。课前已发工单+starter+微课知识卡，资讯·计划线上完成。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详解B1·线程并发：先读定义→场景为什么用它→看代码实例→扩展给A层。C/D层掌握前三格，A层加扩展格。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详解B2·Queue传送带：先读定义→场景为什么用它→看代码实例→扩展给A层。C/D层掌握前三格，A层加扩展格。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详解B3·get超时防死等：先读定义→场景为什么用它→看代码实例→扩展给A层。C/D层掌握前三格，A层加扩展格。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详解B4·退避重试：先读定义→场景为什么用它→看代码实例→扩展给A层。C/D层掌握前三格，A层加扩展格。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详解B5·daemon守护线程：先读定义→场景为什么用它→看代码实例→扩展给A层。C/D层掌握前三格，A层加扩展格。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详解B6·对账公式：先读定义→场景为什么用它→看代码实例→扩展给A层。C/D层掌握前三格，A层加扩展格。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现场演示《退避重连》：三步走——先整段跑通看结果，再逐行讲关键语句，最后现场改一个参数看输出变化（演10分钟的核心素材）。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工单发布话术：'数字化转型办公室发来工单P4.1《多源数据采集系统》，及格线是三，优秀线看A层标准'——念完发starter。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错误速查：现场演示第一条——制造「Ctrl+C退不出」，带着学生按'现象→原因→解决'三步排查。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| 预习知识点：多线程(threading/Queue)；网络编程(socket/MQTT) | 课中检查知识点：采集率≥95%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让程序同时听三个PLC说话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第六周 · 第11次课（2课时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让程序同时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听三个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 · put/get超时防死等——应用：见工单starter与教师参考实现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退避重试1→2→4s封顶——应用：见工单starter与教师参考实现 · daemon=True随主退出——应用：见工单starter与教师参考实现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三线程骨架贯通(采集/订阅/处理)——应用：见工单starter与教师参考实现 · 断线重连实测(2号PLC掉线)——应用：见工单starter与教师参考实现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P4.1《多源数据采集系统》——本课工单即考核单元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59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59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目标：掌握Modbus寄存器读写流程；掌握MQTT主题设计与QoS机制；理解多线程并发与Queue线程安全原理。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目标：能够开发多线程多源采集系统（采集率≥95%优秀≥99.5%）；能够处理断线重连与数据缓冲；代码PEP 8≥75%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59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目标：建立“系统稳定性”工程意识（7×24运行思维），培养并发编程的严谨性（线程安全、资源释放）。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59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为什么‘共享list.append’有隐患而Queue安全？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59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项目4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多线程(threading/Queue)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网络编程(socket/MQTT)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课中检查｜上次课（W5）抽查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5+KPI仪表盘可交互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360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59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题目：为什么‘共享list.append’有隐患而Queue安全？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59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59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任务背景：中台试运行暴露瓶颈：三个厂区数据源并发接入互相踩踏，还常有连接闪断。吴工画出三线程架构图：'骨架给你，可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59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掌握Modbus寄存器读写流程；掌握MQTT主题设计与QoS机制；理解多线程并发与Queue线程安全原理。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能够开发多线程多源采集系统（采集率≥95%优秀≥99.5%）；能够处理断线重连与数据缓冲；代码PEP 8≥75%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建立“系统稳定性”工程意识（7×24运行思维），培养并发编程的严谨性（线程安全、资源释放）。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对应工单P4.1评分：功能40%+技术25%+规范20%+素养15%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知识详解：线程并发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线程并发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线程=车间三条传送带同时转：采集/处理/入库互不挡道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采集不能被入库阻塞——三线程并行是主链路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 = threading.Thread(target=worker); t.start()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误区：以为多线程必然更快——GIL下CPU密集不加速，IO密集才香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59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知识应用（1）：线程并发；Queue线程安全传送带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线程并发；Queue线程安全传送带。在两江智造产线上的用法：见工单starter与教师参考实现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59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知识详解：Queue传送带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Queue传送带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queue.Queue=自带保险锁的传送带——线程间传数据不丢不撞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采集线程与入库线程解耦——快慢各干各的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q.put(row) / row = q.get(timeout=3)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误区：直接共享全局列表传数据——裸列表非线程安全，必加锁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59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知识详解：get超时防死等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get超时防死等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get(timeout)=传送带空转3秒就检查——不给死等机会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采集断流时入库线程能检查退出标志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try: row=q.get(timeout=3) except Empty: continue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误区：裸get()死等——采集一断入库线程永久卡死成僵尸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59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知识详解：退避重试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退避重试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指数退避=敲门礼仪：1s没应等2s再4s——封顶8s不轰炸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P4.1核心考点：2号PLC随机掉线必须重连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delay=min(delay*2, 8)——间隔翻倍不爆炸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误区：无退避疯狂重试=DDOS自己——掉线风暴越试越瘫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59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知识详解：daemon守护线程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daemon守护线程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daemon=True=随主灯灭的值夜班——主程序退出它跟着退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Ctrl+C后采集进程能干净退出不留后台僵尸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t = threading.Thread(target=worker, daemon=True)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误区：守护线程里放'必须写完'的落库逻辑——可能中途被掐断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59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知识详解：对账公式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对账公式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对账=钱货两清：源计数=入库+异常+丢弃，一条不差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采集完整性的数学表达——工单验收硬指标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assert total_src == total_db + total_err + total_drop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误区：只报采集条数不对账——丢的行去哪了说不清等于失控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59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三线程骨架贯通(采集/订阅/处理)——应用：见工单starter与教师参考实现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断线重连实测(2号PLC掉线)——应用：见工单starter与教师参考实现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采集率统计与提升——应用：见工单starter与教师参考实现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架构图绘制入工单——应用：见工单starter与教师参考实现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59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让程序同时听三个PLC说话（1）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TCP/IP与Socket复习深化；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Modbus协议详解：寄存器映射、读写命令、异常码；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MQTT深化：主题设计、QoS等级、遗嘱消息；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多线程基础：threading、Queue线程安全队列。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59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关键代码：退避重连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backoff 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while not stop.is_set():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got = False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host, port in PLCS: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read_one(host, port): got = True; stat["ok"]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else: stat["fail"] += 1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backoff = 1 if got else min(backoff*2, 4)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time.sleep(0.5 if got else backoff)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59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59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决策：并发模型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复杂度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资源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顺序轮询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多线程+Queue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asyncio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59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本课决策题：决策：并发模型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59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实施任务：工单P4.1《多源数据采集系统》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启动plc_simulator三台PLC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ModbusCollector轮询0.5s×3台(÷10还原)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read_one退避重试(1→2→4s)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三源贯通+采集率&gt;95%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断线重连实测通过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59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架构观察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跑演示notebook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记录采集率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手画三线程图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能画线程图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59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单源贯通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Modbus采集跑通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Queue到Processor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SQLite见记录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数据能入库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59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完整多源系统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补全read_one+on_message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断线重连调通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10分钟统计截图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≥95%+文档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59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高可用演示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主备采集切换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实时统计小面板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8小时稳定跑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≥99.5%+监控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采集率统计面板：实时打印成功率/延迟/丢弃数（简易APM）)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59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启动plc_simulator三台PLC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ModbusCollector轮询0.5s×3台(÷10还原)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5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5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4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read_one退避重试(1→2→4s)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线程命名：threading.Thread(name='Modbus')日志可辨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Queue.put(timeout=1)防永久阻塞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daemon=True保证Ctrl+C能退出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59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Ctrl+C退不出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没设daemon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daemon=True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Queue满卡死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put无超时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put(timeout=1)+丢弃计数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线程日志混乱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Thread(name='Modbus')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59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D·学徒（≥60）：架构观察——跟做保底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C·操作员（≥70）：单源贯通——基础完成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B·组长（≥80）：完整多源系统——标准达成+帮带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A·师傅（≥90）：高可用演示——进阶拓展+费曼讲解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59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59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4630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B5E54"/>
                </a:solidFill>
              </a:rPr>
              <a:t>工单实战 · 完成效果图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" y="475488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475488"/>
            <a:ext cx="31089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TARGET · 完成后长这样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859536"/>
            <a:ext cx="1124102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B2B28"/>
                </a:solidFill>
              </a:rPr>
              <a:t>P4.1 采集上报完成态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1389888"/>
            <a:ext cx="1234440" cy="30000"/>
          </a:xfrm>
          <a:prstGeom prst="roundRect">
            <a:avLst>
              <a:gd name="adj" fmla="val 5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67928" y="1627632"/>
            <a:ext cx="31485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B5E54"/>
                </a:solidFill>
              </a:rPr>
              <a:t>四个自检点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7928" y="2066543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95944" y="215798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95944" y="2157983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9992" y="2130551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PLC1 五寄存器读取成功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67928" y="2807207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95944" y="2898647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95944" y="2898647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871215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MQTT 上报 ≥ 3 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67928" y="3547871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695944" y="3639311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95944" y="3639311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9992" y="3611879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断线重连生效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67928" y="4288535"/>
            <a:ext cx="3148584" cy="658368"/>
          </a:xfrm>
          <a:prstGeom prst="roundRect">
            <a:avLst>
              <a:gd name="adj" fmla="val 1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95944" y="4379975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5944" y="4379975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4352543"/>
            <a:ext cx="247192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50" b="0">
                <a:solidFill>
                  <a:srgbClr val="1B2B28"/>
                </a:solidFill>
              </a:rPr>
              <a:t>数值 ÷10 还原正确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" y="5138928"/>
            <a:ext cx="786384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5488" y="5138928"/>
            <a:ext cx="54864" cy="868680"/>
          </a:xfrm>
          <a:prstGeom prst="roundRect">
            <a:avLst>
              <a:gd name="adj" fmla="val 5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B2B28"/>
                </a:solidFill>
              </a:rPr>
              <a:t>怎么看：终端退出码 0 + 关键数字在及格线以上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541264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E6A"/>
                </a:solidFill>
              </a:rPr>
              <a:t>截图提交：运行窗口含文件名与输出，截全屏交工单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6419088"/>
            <a:ext cx="11241024" cy="9000"/>
          </a:xfrm>
          <a:prstGeom prst="roundRect">
            <a:avLst>
              <a:gd name="adj" fmla="val 5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6455664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C6E6A"/>
                </a:solidFill>
              </a:rPr>
              <a:t>两江智造集团 · Python程序设计（项目实战）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2382322"/>
            <a:ext cx="7863840" cy="167273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59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59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提交物与评分（工单P4.1）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学号_姓名_P4.1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59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完成工单P4.1《多源工业数据采集系统》：及格标准采集率&gt;95%+无数据丢失；优秀标准≥99.5%+延迟&lt;100ms+告警完善；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撰写系统架构文档（模块图+数据流图）；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预习SQL基础与数据库设计方法。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59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59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59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59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P4.1任务书——步骤/及格线/评分细则都在里面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59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59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P4.1的技能点即其最小实现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59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59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让程序同时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听三个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线程并发；Queue线程安全传送带——应用：见工单starter与教师参考实现 · put/get超时防死等——应用：见工单starter与教师参考实现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三线程骨架贯通(采集/订阅/处理)——应用：见工单starter与教师参考实现 · 断线重连实测(2号PLC掉线)——应用：见工单starter与教师参考实现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Ctrl+C退不出 · Queue满卡死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工单P4.1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59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59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为什么‘共享list.append’有隐患而Queue安全？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排错题：出现「Ctrl+C退不出」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原因：没设daemon；解决：daemon=True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线程并发；Queue线程安全传送带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59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知识：线程并发；Queue线程安全传送带；put/get超时防死等；退避重试1→2→4s封顶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技能：三线程骨架贯通(采集/订阅/处理)——应用：见工单starter与教师参考实现；断线重连实测(2号PLC掉线)——应用：见工单starter与教师参考实现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交付：工单P4.1《多源数据采集系统》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59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59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四表ER设计与ORM建模——应用：见工单star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一对多关系在表结构上如何表达？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