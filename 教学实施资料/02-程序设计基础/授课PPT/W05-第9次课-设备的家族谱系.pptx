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开场30秒：本次课《设备的家族谱系》，80分钟＝2课时×40分钟。课前已发工单+starter+微课知识卡，资讯·计划线上完成。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议程页30秒：指读六个部分的分钟归属，强调'资讯计划课前已完成'；告诉学生'每次课都知道现在在哪一步、还剩多少时间'。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过渡页：一句话点明本部分——先明确这门课'为什么学、学了去哪'。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念'课程性质'一行即可，重点指读'对接证书'与'课程衔接'，让学生知道本课与前后课程的关系（30秒）。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知识地图：先见森林后见树木。指着四条分支预告本课路线，不展开细讲（40秒）。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流程预告：强调'资讯·计划已在课前完成'，课堂从决策直接开始。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讲10→演10→模仿10→练习10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分层节奏：D层跟做保底、C层基础完成、B层标准达成、A层进阶拓展；每人按工单勾选自己的层，每4周动态升降。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PRIMM的Predict：先让学生猜，再揭晓。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目标解读：点读1-2个关键动词（能编写/能诊断/能部署），说明这就是今天工单的验收口径。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课前测讲评：随机点2名学生说答案，只追问'为什么'，不展开讲；错得多的题记到'检查'环节再回收。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快问快答：同桌互问30秒，举手表决；答案不公布，留到知识精讲验证。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情境说书（30秒，口头讲，不必逐字念）：新采购的PLC和变频器到了，王主任要求新旧设备统一管理。'都是设备，但脾气不同。'——工单0.4：用继承体系让PLC、变频器各展所长又统一调度。</a:t>
            </a:r>
          </a:p>
          <a:p>
            <a:r>
              <a:t>讲完抛出问题：'如果是你，第一步先干什么？'——自然过渡到决策环节。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知识精讲开始：每条知识对应一张大卡，讲法'先例后理'。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知识卡1：继承：子类复用父类成员(is-a关系)——应用：见工单starter与教师参考实现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知识卡2：super().__init__()先完成父类初始化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知识卡3：覆盖：子类同名方法优先执行——应用：见工单starter与教师参考实现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知识卡4：多态：统一接口、不同行为——应用：见工单starter与教师参考实现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知识卡5：isinstance/issubclass类型判断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知识卡6：docstring：类与方法一行说明——应用：见工单starter与教师参考实现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快查核对：遮住左栏让学生说右栏含义；全对的小组加过程分。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深化讲解：面向A/B层的进阶理解，C/D层听懂结论即可。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技能点＝今天'做完你应该会'，逐条对应工单步骤与评分点。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实施内容清单：本页条目与工单步骤一一对应，逐项过一遍即可，细节留到代码演示。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现场演示《继承+覆盖》：三步走——先整段跑通看结果，再逐行讲关键语句，最后现场改一个参数看输出变化（演10分钟的核心素材）。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流程图页：可快速带过，作为'我们现在在哪一步'的路标。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强调柱状图最右两根：实施二25分钟是冲优秀的时间，评价10分钟不压缩——当堂评分、24小时内反馈。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进入实施：先决策、再领工单、按层执行。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决策矩阵用法（10分钟）：组内对备选方案打分→选型→把结论和理由写进工单'决策记录'栏；教师抽查2组口头说理由（决策追责）。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工单发布话术：'精密制造事业部发来工单0.4《工业设备继承体系》，及格线是1，优秀线看A层标准'——念完发starter。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D层·学徒：跟做保底。教师或屏幕领做，做完即达标，绝不留白。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C层·操作员：基础完成。按工单步骤独立完成，卡壳先查错误速查表。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B层·组长：标准达成。全部功能+规范，完成后帮带同组D/C层。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A层·师傅：进阶拓展。完成拓展任务并准备2分钟展示；费曼式讲给D层听。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避坑清单：每条问'为什么会踩'，点名学生解释，把'注意'变成'知道为什么注意'。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错误速查：现场演示第一条——制造「父类属性丢失」，带着学生按'现象→原因→解决'三步排查。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先让学生说排查顺序再给提示：训练'看报错信息'的条件反射。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收尾5分钟检查+10分钟评价。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三层质检组织：自查明细→同伴互查（签字）→教师抽查2组；查出的缺陷当场修，修不完记入课后任务。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提交强调：文件命名'学号_姓名_工单号.zip'，24小时内教师在平台反馈评分。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教材衔接：教材：Python程序设计项目化教程（活页式）（任越美 李垒 李江岱 主编，978-7-313-30507-7）— 项目3 砥砺奋斗，成就精彩 | 预习知识点：函数定义与调用；参数与返回值；局部/全局变量 | 课中检查知识点：能封装告警判断为函数；能说明return的作用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素养页：结合本课内容点一个真实案例（如数据脱敏、代码抄袭后果），30秒即可。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提醒：运行截图/实拍照片贴到工单过程记录栏，作为过程性考核证据。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下课提醒：关机→椅归位→带走工单；教师课后24h内完成反馈。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下次课预告：布置课前微课知识卡与导学单，形成学习闭环。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78308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783080"/>
            <a:ext cx="12192000" cy="6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250000"/>
            <a:ext cx="10792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200" b="0">
                <a:solidFill>
                  <a:srgbClr val="FFFFFF"/>
                </a:solidFill>
                <a:latin typeface="微软雅黑"/>
              </a:rPr>
              <a:t>Python编程基础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BBC6E6"/>
                </a:solidFill>
                <a:latin typeface="微软雅黑"/>
              </a:rPr>
              <a:t>◆ 重庆两江智造集团 · 精密制造事业部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0000" y="2263140"/>
            <a:ext cx="5992000" cy="2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400" b="1">
                <a:solidFill>
                  <a:srgbClr val="010328"/>
                </a:solidFill>
                <a:latin typeface="微软雅黑"/>
              </a:rPr>
              <a:t>设备的家族谱系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0000" y="3771900"/>
            <a:ext cx="59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0545E8"/>
                </a:solidFill>
                <a:latin typeface="微软雅黑"/>
              </a:rPr>
              <a:t>第五周 · 第9次课（2课时 · 80分钟）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双创中心302实训室  ·  理实一体  ·  配套：分层工单+starter  ·  本课主用：PyCharm CE（全程主编辑器）+ Jupyter（每周notebook）+ Git/GitHub（每周提交）</a:t>
            </a:r>
          </a:p>
        </p:txBody>
      </p:sp>
      <p:pic>
        <p:nvPicPr>
          <p:cNvPr id="7" name="Picture 6" descr="W5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0000" y="2300000"/>
            <a:ext cx="4100000" cy="3075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00000" y="5623560"/>
            <a:ext cx="1500000" cy="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0000" y="5760720"/>
            <a:ext cx="10792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重庆现代制造职业学院  智能控制学院 · 工业互联网应用专业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本次课议程（六部分 · 80分钟）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80000" y="200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课程定位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课前已读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80000" y="261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性质·岗位·证书：为什么学这门课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7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7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7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90000" y="200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课堂流程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约2′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90000" y="261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四步法节奏：讲-演-模仿-练习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8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目标与资讯·情境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约5′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80000" y="423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目标+两江智造本课剧情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7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7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7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9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知识精讲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讲10′+演10′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90000" y="423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基础知识大卡+现场演示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8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模仿与练习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10′+10′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80000" y="585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跟做保底→独立完成（工单分层）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7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7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7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9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检查与评价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约15′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90000" y="585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三层质检·当堂评分·课后任务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0000" y="6350000"/>
            <a:ext cx="109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资讯·计划已于课前线上完成——课堂从决策/演示直接开始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02 / 45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01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课程定位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本课在课程体系中的位置（课程标准摘录）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03 / 45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课程定位：Python编程基础（课程标准摘录）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8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750000"/>
            <a:ext cx="150000" cy="8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1990000"/>
            <a:ext cx="23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课程性质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00000" y="1840000"/>
            <a:ext cx="9100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专业核心基础课：面向零基础新生的编程第一课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740000"/>
            <a:ext cx="10900000" cy="8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2740000"/>
            <a:ext cx="150000" cy="8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30000" y="2980000"/>
            <a:ext cx="23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面向岗位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00000" y="2830000"/>
            <a:ext cx="9100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工业数据采集技术员、边缘计算运维、平台运维员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3730000"/>
            <a:ext cx="10900000" cy="8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3730000"/>
            <a:ext cx="150000" cy="8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30000" y="3970000"/>
            <a:ext cx="23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对接证书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00000" y="3820000"/>
            <a:ext cx="9100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Python开发（工信部）、AI应用实践、企业应用实施工程师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4720000"/>
            <a:ext cx="10900000" cy="8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4720000"/>
            <a:ext cx="150000" cy="8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30000" y="4960000"/>
            <a:ext cx="23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课程衔接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00000" y="4810000"/>
            <a:ext cx="9100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前：计算机文化基础 → 本课(第1-12周) → 后：AI应用基础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04 / 45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本课知识图谱（先见森林，再见树木）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700000"/>
            <a:ext cx="1700000" cy="13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2900000"/>
            <a:ext cx="158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设备的家族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谱系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000" y="4300000"/>
            <a:ext cx="17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5条分支导览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2400000" y="2040000"/>
            <a:ext cx="1050000" cy="131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500000" y="165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00000" y="165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0000" y="187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基础知识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40000" y="174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继承：子类复用父类成员(is-a关系)——应用：见工单starter与教师参考实现 · super().__init__()先完成父类初始化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2400000" y="2960000"/>
            <a:ext cx="1050000" cy="39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500000" y="257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00000" y="257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0000" y="279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继续夯实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40000" y="266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覆盖：子类同名方法优先执行——应用：见工单starter与教师参考实现 · 多态：统一接口、不同行为——应用：见工单starter与教师参考实现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00000" y="3350000"/>
            <a:ext cx="1050000" cy="53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500000" y="349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00000" y="349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0000" y="371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技能点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40000" y="358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构建基类+两子类继承体系——应用：见工单starter与教师参考实现 · 覆盖start并调用super协作——应用：见工单starter与教师参考实现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400000" y="3350000"/>
            <a:ext cx="1050000" cy="145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500000" y="441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500000" y="441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0000" y="463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分层任务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40000" y="450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D跟做保底 · C基础完成 · B标准达成 · A进阶拓展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2400000" y="3350000"/>
            <a:ext cx="1050000" cy="237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3500000" y="533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500000" y="533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60000" y="555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课堂评价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40000" y="542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功能40% · 技术25% · 规范20% · 素养15%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05 / 45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02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课堂流程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80分钟时间盒与个人节奏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06 / 45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本次课流程（80分钟时间盒）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0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190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0000" y="200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复习检查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00000" y="200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5min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00000" y="200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课前5分钟：代码听写/找错微练习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0000" y="269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0000" y="269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0000" y="279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讲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00000" y="279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18min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00000" y="279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精讲原理与工业应用背景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0000" y="348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0000" y="348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0000" y="358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00000" y="358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18min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00000" y="358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教师实时代码演示（关键步骤慢放）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0000" y="427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0000" y="427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0000" y="437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模仿·练习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00000" y="437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31min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00000" y="437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跟做→独立完成小任务（人人有产出）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0000" y="506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0000" y="5060000"/>
            <a:ext cx="1700000" cy="6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0000" y="516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评价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00000" y="516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8min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00000" y="516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当堂评分 + 避坑清单更新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0000" y="6058000"/>
            <a:ext cx="10000000" cy="2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每课时40分钟 · 共80分钟（四步法）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07 / 45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80分钟课堂节奏（学生自查）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82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03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0-10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00000" y="203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资讯回顾+决策矩阵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0000" y="203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跟上讨论, 记下结论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0000" y="2770000"/>
            <a:ext cx="10900000" cy="82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0000" y="277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000" y="295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10-40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00000" y="295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第一轮实施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0000" y="295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完成本层核心任务主体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3690000"/>
            <a:ext cx="10900000" cy="82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369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0000" y="387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40-45 min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00000" y="387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三层检查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0000" y="387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自检表勾完+互检1条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60000" y="4610000"/>
            <a:ext cx="10900000" cy="82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60000" y="461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0000" y="479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45-70 min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00000" y="479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第二轮实施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0000" y="479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优化/冲标准/补漏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0000" y="5530000"/>
            <a:ext cx="10900000" cy="82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0000" y="553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0000" y="571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70-80 min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800000" y="571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评价+课后布置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0000" y="571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自评打分, 记录课后任务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08 / 45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03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目标与资讯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带着目标进课堂（Predict·预测）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09 / 45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学习目标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0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228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知识目标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掌握继承的基本语法与方法覆盖；理解多态的实现机制；了解封装与访问控制约定。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425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5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50000" y="228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能力目标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能够设计基类与子类继承体系并演示多态调用；能够编写含docstring的规范代码；代码规范率≥80%。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0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80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00000" y="228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素质目标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8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理解“复用与扩展”的系统思维，认识代码复用在大型工业系统中的维护价值。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10 / 45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课前资讯回顾（六步之“资讯·计划”）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100000"/>
            <a:ext cx="10600000" cy="17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2100000"/>
            <a:ext cx="120000" cy="1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0000" y="2280000"/>
            <a:ext cx="100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预习快问：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010328"/>
                </a:solidFill>
                <a:latin typeface="微软雅黑"/>
              </a:rPr>
              <a:t>子类如何调用父类__init__？多态怎么理解？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" y="4100000"/>
            <a:ext cx="106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课前检查：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预习微课已观看；跟打练习截图已交；PyCharm CE环境正常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11 / 45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课堂即时练习 1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2000000"/>
            <a:ext cx="10900000" cy="1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2000000"/>
            <a:ext cx="150000" cy="1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2150000"/>
            <a:ext cx="10400000" cy="1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题目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子类如何调用父类__init__？多态怎么理解？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42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提示: 覆盖__init__必须调super().__init__()，否则父类属性丢失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000" y="53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⏱ 3分钟 · 同桌互查 · 举手验证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12 / 45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任务情境（集团项目案例）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780000"/>
            <a:ext cx="106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80000"/>
            <a:ext cx="102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◆ 重庆两江智造集团 · 精密制造事业部</a:t>
            </a:r>
          </a:p>
        </p:txBody>
      </p:sp>
      <p:sp>
        <p:nvSpPr>
          <p:cNvPr id="7" name="Rectangle 6"/>
          <p:cNvSpPr/>
          <p:nvPr/>
        </p:nvSpPr>
        <p:spPr>
          <a:xfrm>
            <a:off x="800000" y="2580000"/>
            <a:ext cx="6300000" cy="3600000"/>
          </a:xfrm>
          <a:prstGeom prst="rect">
            <a:avLst/>
          </a:prstGeom>
          <a:solidFill>
            <a:srgbClr val="F7F9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2740000"/>
            <a:ext cx="5900000" cy="3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50" b="0">
                <a:solidFill>
                  <a:srgbClr val="010328"/>
                </a:solidFill>
                <a:latin typeface="微软雅黑"/>
              </a:rPr>
              <a:t>新采购的PLC和变频器到了，王主任要求新旧设备统一管理。'都是设备，但脾气不同。'——工单0.4：用继承体系让PLC、变频器各展所长又统一调度。</a:t>
            </a:r>
          </a:p>
        </p:txBody>
      </p:sp>
      <p:pic>
        <p:nvPicPr>
          <p:cNvPr id="9" name="Picture 8" descr="W5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0000" y="2580000"/>
            <a:ext cx="4150000" cy="36000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13 / 45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04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知识精讲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基础知识 → 详解 → 技能 → 代码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14 / 45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B01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继承：子类复用父类成员(is-a关系)——应用：见工单starter与教师参考实现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15 / 45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B02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super().__init__()先完成父类初始化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16 / 45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B03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覆盖：子类同名方法优先执行——应用：见工单starter与教师参考实现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17 / 45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B04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多态：统一接口、不同行为——应用：见工单starter与教师参考实现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18 / 45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B05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isinstance/issubclass类型判断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19 / 45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B06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docstring：类与方法一行说明——应用：见工单starter与教师参考实现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20 / 45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知识快闪：60秒复述以下要点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0000" y="180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1.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继承：子类复用父类成员(is-a关系)——应用：见工单starter与教师参考实现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0000" y="256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2.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super().__init__()先完成父类初始化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0000" y="332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3.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覆盖：子类同名方法优先执行——应用：见工单starter与教师参考实现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" y="408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4.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多态：统一接口、不同行为——应用：见工单starter与教师参考实现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0000" y="484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5.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isinstance/issubclass类型判断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0000" y="5720000"/>
            <a:ext cx="10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475B6"/>
                </a:solidFill>
                <a:latin typeface="微软雅黑"/>
              </a:rPr>
              <a:t>同桌互述 → 抽2人全班复述（费曼：能讲清才算懂）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21 / 45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知识详解（讲）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21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30000" cy="21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0000" y="2020000"/>
            <a:ext cx="2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知识点1  继承：家族复用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0000" y="2620000"/>
            <a:ext cx="10200000" cy="1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class PLC(Device)白捡父类的属性方法，再加自己的scan_ms。super().__init__()先让父类完成基础初始化。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4200000"/>
            <a:ext cx="10900000" cy="21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4200000"/>
            <a:ext cx="130000" cy="21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0000" y="4320000"/>
            <a:ext cx="2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知识点2  覆盖（重写）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0000" y="4920000"/>
            <a:ext cx="10200000" cy="1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PLC重写start()加入扫描周期提示——同名方法子类优先。这就是“同一接口，不同行为”。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22 / 45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技能点：做完你应该会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0000" y="200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205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50000" y="206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构建基类+两子类继承体系——应用：见工单starter与教师参考实现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93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0000" y="313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0000" y="318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50000" y="319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覆盖start并调用super协作——应用：见工单starter与教师参考实现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06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0000" y="426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0000" y="431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50000" y="432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循环统一调用演示多态——应用：见工单starter与教师参考实现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19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0000" y="539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0000" y="544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50000" y="545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绘制继承体系类图——应用：见工单starter与教师参考实现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23 / 45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设备的家族谱系（1）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继承的概念与语法：子类复用父类；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方法覆盖（重写）与super()调用；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封装与访问控制基础：属性约定（_protected）；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演示：Device基类派生PLC、变频器子类。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24 / 45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关键代码：继承+覆盖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46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750000"/>
            <a:ext cx="1090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0000" y="2000000"/>
            <a:ext cx="10300000" cy="4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class PLC(Device):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def __init__(self, dev_id, name, scan_ms=10):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    super().__init__(dev_id, name)   # 父类先初始化!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    self.scan_ms = scan_ms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def start(self):                     # 覆盖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    super().start()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    print(f"  扫描周期:{self.scan_ms}ms")</a:t>
            </a:r>
          </a:p>
        </p:txBody>
      </p:sp>
      <p:sp>
        <p:nvSpPr>
          <p:cNvPr id="8" name="Rectangle 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25 / 45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课堂教法四步法（每课时40分钟）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96000" y="2600000"/>
            <a:ext cx="250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6000" y="2720000"/>
            <a:ext cx="23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讲10min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3496000" y="2600000"/>
            <a:ext cx="250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56000" y="2720000"/>
            <a:ext cx="23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演10min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96000" y="2600000"/>
            <a:ext cx="250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56000" y="2720000"/>
            <a:ext cx="23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模仿10min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896000" y="2600000"/>
            <a:ext cx="2500000" cy="15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56000" y="2720000"/>
            <a:ext cx="23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练习10min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0000" y="46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PRIMM融合：预测→运行→研究→修改→创造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26 / 45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80分钟时间盒分配（分钟）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46000" y="4466667"/>
            <a:ext cx="1400000" cy="933333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6000" y="3906667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决策</a:t>
            </a:r>
          </a:p>
        </p:txBody>
      </p:sp>
      <p:sp>
        <p:nvSpPr>
          <p:cNvPr id="8" name="Rectangle 7"/>
          <p:cNvSpPr/>
          <p:nvPr/>
        </p:nvSpPr>
        <p:spPr>
          <a:xfrm>
            <a:off x="2946000" y="2600000"/>
            <a:ext cx="1400000" cy="28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6000" y="20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实施一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46000" y="4933334"/>
            <a:ext cx="1400000" cy="466666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6000" y="4373334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检查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46000" y="3066667"/>
            <a:ext cx="1400000" cy="2333333"/>
          </a:xfrm>
          <a:prstGeom prst="rect">
            <a:avLst/>
          </a:prstGeom>
          <a:solidFill>
            <a:srgbClr val="0175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6000" y="2506667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25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实施二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246000" y="4466667"/>
            <a:ext cx="1400000" cy="933333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46000" y="3906667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评价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400000" y="5400000"/>
            <a:ext cx="9400000" cy="3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0000" y="61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评价环节不压缩：10分钟当堂评分+24小时反馈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27 / 45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05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任务实施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工单 · 分层 · 步骤 · 避坑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28 / 45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课堂教法：四步法（第1-6周）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000000"/>
            <a:ext cx="3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000" y="2120000"/>
            <a:ext cx="3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步骤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时长/课时</a:t>
            </a:r>
          </a:p>
        </p:txBody>
      </p:sp>
      <p:sp>
        <p:nvSpPr>
          <p:cNvPr id="9" name="Rectangle 8"/>
          <p:cNvSpPr/>
          <p:nvPr/>
        </p:nvSpPr>
        <p:spPr>
          <a:xfrm>
            <a:off x="66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要点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0000" y="270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0000" y="280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讲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原理+工业背景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0000" y="332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0000" y="342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演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6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实时代码演示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0000" y="394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0000" y="404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模仿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6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跟做保底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0000" y="456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0000" y="466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练习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00000" y="456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00000" y="466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600000" y="456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00000" y="466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独立+小步成功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000" y="5300000"/>
            <a:ext cx="10600000" cy="3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第7周起切换为完整六步法（资讯·计划课前线上）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29 / 45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实施任务：工单0.4《工业设备继承体系》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50000"/>
            <a:ext cx="6300000" cy="3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100000"/>
            <a:ext cx="5900000" cy="3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实施步骤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1. Device基类+PLC/VFD子类(super().__init__)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2. 子类新增scan_ms/set_freq并覆盖start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3. docstring每个类+方法一行</a:t>
            </a:r>
          </a:p>
        </p:txBody>
      </p:sp>
      <p:sp>
        <p:nvSpPr>
          <p:cNvPr id="7" name="Rectangle 6"/>
          <p:cNvSpPr/>
          <p:nvPr/>
        </p:nvSpPr>
        <p:spPr>
          <a:xfrm>
            <a:off x="7400000" y="1950000"/>
            <a:ext cx="4000000" cy="185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50000" y="2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及格标准（D）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1基类+2子类+覆盖</a:t>
            </a:r>
          </a:p>
        </p:txBody>
      </p:sp>
      <p:sp>
        <p:nvSpPr>
          <p:cNvPr id="9" name="Rectangle 8"/>
          <p:cNvSpPr/>
          <p:nvPr/>
        </p:nvSpPr>
        <p:spPr>
          <a:xfrm>
            <a:off x="7400000" y="3950000"/>
            <a:ext cx="4000000" cy="185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50000" y="4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优秀标准（B+）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≥3子类；super协作；docstring齐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30 / 45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D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学徒 · 跟做保底层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继承体验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运行多态示例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换一种设备再跑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口述谁继承谁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445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能复述is-a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31 / 45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C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操作员 · 基础完成层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单子类继承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PLC继承Device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super().__init__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新增一个属性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继承与super正确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32 / 45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B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组长 · 标准达成层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两子类覆盖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PLC子类+scan_ms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覆盖start带扫描周期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循环调用看多态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FDF0E6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docstring齐全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33 / 45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A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师傅 · 进阶拓展层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三子类+类图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加Sensor子类calibrate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总控台统一启停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类图绘制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98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多态清晰+is-a判断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0">
                <a:solidFill>
                  <a:srgbClr val="44546A"/>
                </a:solidFill>
                <a:latin typeface="微软雅黑"/>
              </a:rPr>
              <a:t>(A层加码: 加第3个子类Sensor（含calibrate校准方法），绘制三子类类图)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34 / 45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实施步骤与注意事项（做）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1850000"/>
            <a:ext cx="6300000" cy="41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0000" y="1980000"/>
            <a:ext cx="5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545E8"/>
                </a:solidFill>
                <a:latin typeface="微软雅黑"/>
              </a:rPr>
              <a:t>实施步骤</a:t>
            </a:r>
          </a:p>
        </p:txBody>
      </p:sp>
      <p:sp>
        <p:nvSpPr>
          <p:cNvPr id="7" name="Rectangle 6"/>
          <p:cNvSpPr/>
          <p:nvPr/>
        </p:nvSpPr>
        <p:spPr>
          <a:xfrm>
            <a:off x="920000" y="266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0000" y="2680000"/>
            <a:ext cx="48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20000" y="260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Device基类+PLC/VFD子类(super().__init__)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0000" y="319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0000" y="3210000"/>
            <a:ext cx="48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0000" y="313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子类新增scan_ms/set_freq并覆盖start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20000" y="352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0000" y="3540000"/>
            <a:ext cx="48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20000" y="346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docstring每个类+方法一行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50000" y="1850000"/>
            <a:ext cx="4300000" cy="410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50000" y="1980000"/>
            <a:ext cx="395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5670F"/>
                </a:solidFill>
                <a:latin typeface="微软雅黑"/>
              </a:rPr>
              <a:t>⚠ 注意事项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50000" y="2600000"/>
            <a:ext cx="3950000" cy="3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1. 覆盖__init__必须调super().__init__()，否则父类属性丢失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2. is-a才继承：“车间”不是设备，别硬凑继承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3. 子类方法名要与父类完全一致（大小写敏感）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35 / 45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常见错误速查（避坑清单）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19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父类属性丢失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50000" y="19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忘调super().__init__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00000" y="19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补上super调用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0000" y="31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0000" y="31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0000" y="32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多态失效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50000" y="32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方法名大小写不一致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00000" y="32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与父类完全同名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44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44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0000" y="45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为继承而继承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50000" y="45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车间不是设备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00000" y="45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is-a不成立就不继承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36 / 45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课堂即时练习 2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2000000"/>
            <a:ext cx="10900000" cy="1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2000000"/>
            <a:ext cx="150000" cy="1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2150000"/>
            <a:ext cx="10400000" cy="1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题目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运行时出现「父类属性丢失」，你的排查顺序是？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42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提示: 提示: 原因是忘调super().__init__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000" y="53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⏱ 3分钟 · 同桌互查 · 举手验证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37 / 45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06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检查与评价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三层质检 · 评分 · 课后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38 / 45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过程检查（三层质检）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0000" y="245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1  自检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对照工单checklist逐项自查并截图留证</a:t>
            </a:r>
          </a:p>
        </p:txBody>
      </p:sp>
      <p:sp>
        <p:nvSpPr>
          <p:cNvPr id="8" name="Rectangle 7"/>
          <p:cNvSpPr/>
          <p:nvPr/>
        </p:nvSpPr>
        <p:spPr>
          <a:xfrm>
            <a:off x="425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50000" y="245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2  互检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5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组间交换检查，互检表记录问题≥1条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00000" y="245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3  师查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教师抽查复核，重点盯D层完成度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0000" y="5200000"/>
            <a:ext cx="10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复盘追问：如果当初选另一个方案，结果会怎样？（决策追责）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39 / 45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提交物与评分（工单0.4）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5300000" cy="38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提交清单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1. 程序/notebook（含运行输出）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2. 分层工单纸件（勾层+自评）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3. 决策矩阵照片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4. 过程记录/避坑笔记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命名: 学号_姓名_0.4</a:t>
            </a:r>
          </a:p>
        </p:txBody>
      </p:sp>
      <p:sp>
        <p:nvSpPr>
          <p:cNvPr id="7" name="Rectangle 6"/>
          <p:cNvSpPr/>
          <p:nvPr/>
        </p:nvSpPr>
        <p:spPr>
          <a:xfrm>
            <a:off x="6350000" y="1800000"/>
            <a:ext cx="5300000" cy="38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5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评分构成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功能完成 40%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技术质量 25%（指标达标）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代码规范 20%（PEP 8）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工程素养 15%（留痕/协作）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50" b="1">
                <a:solidFill>
                  <a:srgbClr val="44546A"/>
                </a:solidFill>
                <a:latin typeface="微软雅黑"/>
              </a:rPr>
              <a:t>D≥60 / C≥70 / B≥80 / A≥90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40 / 45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总结评价与课后任务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50000"/>
            <a:ext cx="10600000" cy="15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050000"/>
            <a:ext cx="103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评价（10分钟）：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按D/C/B/A量表当堂评分；工单24小时内反馈评语与改进建议。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000" y="370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1.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1. 完成工单项目0.4《工业设备继承体系》：及格标准1基类+2子类+继承覆盖；优秀标准≥3子类、多态演示清晰、含docstring、规范率≥90%；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000" y="442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2.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2. 绘制本周设备继承体系类图；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000" y="514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3.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3. 预习异常处理机制。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000" y="5960000"/>
            <a:ext cx="10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475B6"/>
                </a:solidFill>
                <a:latin typeface="微软雅黑"/>
              </a:rPr>
              <a:t>下次课预告：</a:t>
            </a:r>
            <a:r>
              <a:rPr sz="1300" b="0">
                <a:solidFill>
                  <a:srgbClr val="44546A"/>
                </a:solidFill>
                <a:latin typeface="微软雅黑"/>
              </a:rPr>
              <a:t>见下次课工单任务书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41 / 45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素养目标（课程思政融入点）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0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责任感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206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工匠精神：规范命名、及时保存、报错必究的编码习惯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18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18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48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工匠精神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34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工程伦理：数据安全与隐私保护, 不抄代码、引用注明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46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46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76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数据伦理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62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协作素养：ABCD角色轮换履职, 贡献表如实填报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42 / 45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课堂实况与运行截图（教师课后替换）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1900000"/>
            <a:ext cx="4600000" cy="16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0000" y="252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［插入运行截图 / 实拍照片］</a:t>
            </a:r>
          </a:p>
        </p:txBody>
      </p:sp>
      <p:sp>
        <p:nvSpPr>
          <p:cNvPr id="7" name="Rectangle 6"/>
          <p:cNvSpPr/>
          <p:nvPr/>
        </p:nvSpPr>
        <p:spPr>
          <a:xfrm>
            <a:off x="700000" y="3700000"/>
            <a:ext cx="4600000" cy="16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0000" y="432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［插入运行截图 / 实拍照片］</a:t>
            </a:r>
          </a:p>
        </p:txBody>
      </p:sp>
      <p:sp>
        <p:nvSpPr>
          <p:cNvPr id="9" name="Rectangle 8"/>
          <p:cNvSpPr/>
          <p:nvPr/>
        </p:nvSpPr>
        <p:spPr>
          <a:xfrm>
            <a:off x="5560000" y="1900000"/>
            <a:ext cx="4600000" cy="16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60000" y="252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［插入运行截图 / 实拍照片］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560000" y="3700000"/>
            <a:ext cx="4600000" cy="16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60000" y="432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［插入运行截图 / 实拍照片］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43 / 45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880360"/>
            <a:ext cx="12192000" cy="5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645920"/>
            <a:ext cx="12192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FFFFF"/>
                </a:solidFill>
                <a:latin typeface="微软雅黑"/>
              </a:rPr>
              <a:t>THANKS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429000"/>
            <a:ext cx="121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5670F"/>
                </a:solidFill>
                <a:latin typeface="微软雅黑"/>
              </a:rPr>
              <a:t>感谢聆听 · 动手实践出真知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526280"/>
            <a:ext cx="12192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BBC6E6"/>
                </a:solidFill>
                <a:latin typeface="微软雅黑"/>
              </a:rPr>
              <a:t>以生为本   |   做中学 · 学中做</a:t>
            </a:r>
          </a:p>
        </p:txBody>
      </p:sp>
      <p:sp>
        <p:nvSpPr>
          <p:cNvPr id="7" name="Rectangle 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44 / 45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下次课预告（第6周）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50000" cy="1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0000" y="2050000"/>
            <a:ext cx="105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主题: 配置双输出日志(控制台+文件)——应用：见工单s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预习快问: finally块无论是否异常都执行吗？裸except为什么禁止？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39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课前完成：导学单 + 预习自测 + starter环境自检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带着问题来上课——Predict先于Run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