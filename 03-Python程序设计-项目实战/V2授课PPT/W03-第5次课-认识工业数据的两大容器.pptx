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1" r:id="rId43"/>
    <p:sldId id="293" r:id="rId45"/>
    <p:sldId id="295" r:id="rId47"/>
    <p:sldId id="298" r:id="rId50"/>
    <p:sldId id="299" r:id="rId51"/>
    <p:sldId id="301" r:id="rId53"/>
    <p:sldId id="304" r:id="rId56"/>
    <p:sldId id="305" r:id="rId57"/>
    <p:sldId id="309" r:id="rId61"/>
    <p:sldId id="311" r:id="rId63"/>
    <p:sldId id="312" r:id="rId64"/>
    <p:sldId id="314" r:id="rId66"/>
    <p:sldId id="318" r:id="rId70"/>
    <p:sldId id="319" r:id="rId71"/>
    <p:sldId id="320" r:id="rId72"/>
    <p:sldId id="321" r:id="rId73"/>
    <p:sldId id="322" r:id="rId74"/>
    <p:sldId id="324" r:id="rId76"/>
    <p:sldId id="326" r:id="rId78"/>
    <p:sldId id="328" r:id="rId80"/>
    <p:sldId id="330" r:id="rId82"/>
    <p:sldId id="331" r:id="rId83"/>
    <p:sldId id="333" r:id="rId85"/>
    <p:sldId id="334" r:id="rId86"/>
    <p:sldId id="335" r:id="rId87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7" r:id="rId99"/>
    <p:sldId id="348" r:id="rId100"/>
    <p:sldId id="349" r:id="rId101"/>
    <p:sldId id="356" r:id="rId108"/>
    <p:sldId id="361" r:id="rId113"/>
    <p:sldId id="362" r:id="rId114"/>
    <p:sldId id="363" r:id="rId115"/>
    <p:sldId id="367" r:id="rId119"/>
    <p:sldId id="368" r:id="rId1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3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9" Type="http://schemas.openxmlformats.org/officeDocument/2006/relationships/slide" Target="slides/slide20.xml"/><Relationship Id="rId41" Type="http://schemas.openxmlformats.org/officeDocument/2006/relationships/slide" Target="slides/slide21.xml"/><Relationship Id="rId43" Type="http://schemas.openxmlformats.org/officeDocument/2006/relationships/slide" Target="slides/slide22.xml"/><Relationship Id="rId45" Type="http://schemas.openxmlformats.org/officeDocument/2006/relationships/slide" Target="slides/slide23.xml"/><Relationship Id="rId47" Type="http://schemas.openxmlformats.org/officeDocument/2006/relationships/slide" Target="slides/slide24.xml"/><Relationship Id="rId50" Type="http://schemas.openxmlformats.org/officeDocument/2006/relationships/slide" Target="slides/slide25.xml"/><Relationship Id="rId51" Type="http://schemas.openxmlformats.org/officeDocument/2006/relationships/slide" Target="slides/slide26.xml"/><Relationship Id="rId53" Type="http://schemas.openxmlformats.org/officeDocument/2006/relationships/slide" Target="slides/slide27.xml"/><Relationship Id="rId56" Type="http://schemas.openxmlformats.org/officeDocument/2006/relationships/slide" Target="slides/slide28.xml"/><Relationship Id="rId57" Type="http://schemas.openxmlformats.org/officeDocument/2006/relationships/slide" Target="slides/slide29.xml"/><Relationship Id="rId61" Type="http://schemas.openxmlformats.org/officeDocument/2006/relationships/slide" Target="slides/slide30.xml"/><Relationship Id="rId63" Type="http://schemas.openxmlformats.org/officeDocument/2006/relationships/slide" Target="slides/slide31.xml"/><Relationship Id="rId64" Type="http://schemas.openxmlformats.org/officeDocument/2006/relationships/slide" Target="slides/slide32.xml"/><Relationship Id="rId66" Type="http://schemas.openxmlformats.org/officeDocument/2006/relationships/slide" Target="slides/slide33.xml"/><Relationship Id="rId70" Type="http://schemas.openxmlformats.org/officeDocument/2006/relationships/slide" Target="slides/slide34.xml"/><Relationship Id="rId71" Type="http://schemas.openxmlformats.org/officeDocument/2006/relationships/slide" Target="slides/slide35.xml"/><Relationship Id="rId72" Type="http://schemas.openxmlformats.org/officeDocument/2006/relationships/slide" Target="slides/slide36.xml"/><Relationship Id="rId73" Type="http://schemas.openxmlformats.org/officeDocument/2006/relationships/slide" Target="slides/slide37.xml"/><Relationship Id="rId74" Type="http://schemas.openxmlformats.org/officeDocument/2006/relationships/slide" Target="slides/slide38.xml"/><Relationship Id="rId76" Type="http://schemas.openxmlformats.org/officeDocument/2006/relationships/slide" Target="slides/slide39.xml"/><Relationship Id="rId78" Type="http://schemas.openxmlformats.org/officeDocument/2006/relationships/slide" Target="slides/slide40.xml"/><Relationship Id="rId80" Type="http://schemas.openxmlformats.org/officeDocument/2006/relationships/slide" Target="slides/slide41.xml"/><Relationship Id="rId82" Type="http://schemas.openxmlformats.org/officeDocument/2006/relationships/slide" Target="slides/slide42.xml"/><Relationship Id="rId83" Type="http://schemas.openxmlformats.org/officeDocument/2006/relationships/slide" Target="slides/slide43.xml"/><Relationship Id="rId85" Type="http://schemas.openxmlformats.org/officeDocument/2006/relationships/slide" Target="slides/slide44.xml"/><Relationship Id="rId86" Type="http://schemas.openxmlformats.org/officeDocument/2006/relationships/slide" Target="slides/slide45.xml"/><Relationship Id="rId87" Type="http://schemas.openxmlformats.org/officeDocument/2006/relationships/slide" Target="slides/slide46.xml"/><Relationship Id="rId89" Type="http://schemas.openxmlformats.org/officeDocument/2006/relationships/slide" Target="slides/slide47.xml"/><Relationship Id="rId90" Type="http://schemas.openxmlformats.org/officeDocument/2006/relationships/slide" Target="slides/slide48.xml"/><Relationship Id="rId91" Type="http://schemas.openxmlformats.org/officeDocument/2006/relationships/slide" Target="slides/slide49.xml"/><Relationship Id="rId92" Type="http://schemas.openxmlformats.org/officeDocument/2006/relationships/slide" Target="slides/slide50.xml"/><Relationship Id="rId93" Type="http://schemas.openxmlformats.org/officeDocument/2006/relationships/slide" Target="slides/slide51.xml"/><Relationship Id="rId94" Type="http://schemas.openxmlformats.org/officeDocument/2006/relationships/slide" Target="slides/slide52.xml"/><Relationship Id="rId95" Type="http://schemas.openxmlformats.org/officeDocument/2006/relationships/slide" Target="slides/slide53.xml"/><Relationship Id="rId96" Type="http://schemas.openxmlformats.org/officeDocument/2006/relationships/slide" Target="slides/slide54.xml"/><Relationship Id="rId97" Type="http://schemas.openxmlformats.org/officeDocument/2006/relationships/slide" Target="slides/slide55.xml"/><Relationship Id="rId99" Type="http://schemas.openxmlformats.org/officeDocument/2006/relationships/slide" Target="slides/slide56.xml"/><Relationship Id="rId100" Type="http://schemas.openxmlformats.org/officeDocument/2006/relationships/slide" Target="slides/slide57.xml"/><Relationship Id="rId101" Type="http://schemas.openxmlformats.org/officeDocument/2006/relationships/slide" Target="slides/slide58.xml"/><Relationship Id="rId108" Type="http://schemas.openxmlformats.org/officeDocument/2006/relationships/slide" Target="slides/slide59.xml"/><Relationship Id="rId113" Type="http://schemas.openxmlformats.org/officeDocument/2006/relationships/slide" Target="slides/slide60.xml"/><Relationship Id="rId114" Type="http://schemas.openxmlformats.org/officeDocument/2006/relationships/slide" Target="slides/slide61.xml"/><Relationship Id="rId115" Type="http://schemas.openxmlformats.org/officeDocument/2006/relationships/slide" Target="slides/slide62.xml"/><Relationship Id="rId119" Type="http://schemas.openxmlformats.org/officeDocument/2006/relationships/slide" Target="slides/slide63.xml"/><Relationship Id="rId120" Type="http://schemas.openxmlformats.org/officeDocument/2006/relationships/slide" Target="slides/slide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开场30秒：本次课《认识工业数据的两大容器》，80分钟＝2课时×40分钟。课前已发工单+starter+微课知识卡，资讯·计划线上完成。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一号厂区发来一个月的传感器原始数据，中台拒收：缺失、异常、格式混乱。吴工：'数据不干净，后面全是空中楼阁。'——工单P2.1：Pandas七步清洗管道，质量评分冲85+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详解B1·DataFrame摸底：先读定义→场景为什么用它→看代码实例→扩展给A层。C/D层掌握前三格，A层加扩展格。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详解B2·缺失三策略：先读定义→场景为什么用它→看代码实例→扩展给A层。C/D层掌握前三格，A层加扩展格。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详解B3·时间戳统一：先读定义→场景为什么用它→看代码实例→扩展给A层。C/D层掌握前三格，A层加扩展格。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详解B4·combine_first补洞：先读定义→场景为什么用它→看代码实例→扩展给A层。C/D层掌握前三格，A层加扩展格。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详解B5·IQR护栏：先读定义→场景为什么用它→看代码实例→扩展给A层。C/D层掌握前三格，A层加扩展格。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详解B6·业务阈值与统计法AND：先读定义→场景为什么用它→看代码实例→扩展给A层。C/D层掌握前三格，A层加扩展格。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详解B7·清洗顺序：先读定义→场景为什么用它→看代码实例→扩展给A层。C/D层掌握前三格，A层加扩展格。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应用页7：把知识点放回产线场景——先看代码输出，再回看定义，强化'学以致用'。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现场演示《三格式时间统一》：三步走——先整段跑通看结果，再逐行讲关键语句，最后现场改一个参数看输出变化（演10分钟的核心素材）。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现场演示《IQR×业务》：三步走——先整段跑通看结果，再逐行讲关键语句，最后现场改一个参数看输出变化（演10分钟的核心素材）。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工单发布话术：'数字化转型办公室发来工单P2.1《Pandas数据处理管道》，及格线是管，优秀线看A层标准'——念完发starter。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错误速查：现场演示第一条——制造「链式赋值警告」，带着学生按'现象→原因→解决'三步排查。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| 预习知识点：Pandas Series/DataFrame；数据清洗(缺失/异常) | 课中检查知识点：七步管道质量≥85%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认识工业数据的两大容器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第三周 · 第5次课（2课时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Jupyter（Pandas/NumPy数据探索）+ Git/GitHub（每周提交）</a:t>
            </a:r>
          </a:p>
        </p:txBody>
      </p:sp>
      <p:pic>
        <p:nvPicPr>
          <p:cNvPr id="7" name="Picture 6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64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认识工业数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据的两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DataFrame二维表；shape/info/describe摸底 · dropna/fillna/interpolate三策略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to_datetime(errors=coerce)多格式统一 · combine_first填补有效值——应用：df['vib'].combine_first(df['vib_backup'])——主列空用备列填，两列都不空取主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七步管道构建与质量自测——应用：见工单starter与教师参考实现 · 三格式时间戳统一——应用：见工单starter与教师参考实现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技能线：七步管道构建与质量自测——应用：见工单starter与教师参考实现；三格式时间戳统一——应用：见工单starter与教师参考实现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数字化转型办公室：数据工程师、数据分析工程师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P2.1《Pandas数据处理管道》——本课工单即考核单元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Python开发职业技能等级证书（工信部）——工程模板/数据处理对应中级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目标：掌握DataFrame的核心操作；掌握缺失值、异常值、重复值的处理方法；理解数据质量四维度（完整性、准确性、一致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目标：能够构建完整的数据清洗管道（1000+行数据）；数据质量评分≥85%（优秀≥90%）；处理速度&lt;30秒；代码PE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目标：树立“数据质量是分析生命线”的工程意识，养成处理留痕、结果可验证的职业习惯。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dropna/fillna/interpolate各适用什么场景？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项目4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Pandas Series/DataFrame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数据清洗(缺失/异常)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课中检查｜上次课（W2）抽查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工程模板可运行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能git commit一次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题目：dropna/fillna/interpolate各适用什么场景？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一号厂区发来一个月的传感器原始数据，中台拒收：缺失、异常、格式混乱。吴工：'数据不干净，后面全是空中楼阁。'——工单P2.1：Pandas七步清洗管道，质量评分冲85+。</a:t>
            </a:r>
          </a:p>
        </p:txBody>
      </p:sp>
      <p:pic>
        <p:nvPicPr>
          <p:cNvPr id="9" name="Picture 8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任务背景：一号厂区发来一个月的传感器原始数据，中台拒收：缺失、异常、格式混乱。吴工：'数据不干净，后面全是空中楼阁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掌握DataFrame的核心操作；掌握缺失值、异常值、重复值的处理方法；理解数据质量四维度（完整性、准确性、一致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能够构建完整的数据清洗管道（1000+行数据）；数据质量评分≥85%（优秀≥90%）；处理速度&lt;30秒；代码PE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树立“数据质量是分析生命线”的工程意识，养成处理留痕、结果可验证的职业习惯。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对应工单P2.1评分：功能40%+技术25%+规范20%+素养15%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知识详解：DataFrame摸底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DataFrame摸底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DataFrame=Excel表穿Python外衣：shape量尺/info体检/describe验血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拿到数据的第一个动作——先摸底再动手不盲洗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df.info()一眼看出哪列缺失哪列类型错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误区：跳过EDA直接清洗——脏在哪都不知道，白洗一遍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知识详解：缺失三策略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缺失三策略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缺失三策=修路三招：dropna封路/fillna填坑/interpolate顺坡补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传感器断线NaN——按业务选策略不是随手一删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df['vib'].interpolate() 时序线性插值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误区：一律dropna——时序删行会断时间轴，插值才是时序正解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知识详解：时间戳统一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时间戳统一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to_datetime=多国时间翻译官：三种格式归一种，coerce坏件标记不炸管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三系统时间格式不一(2026-9-1/09/01/…)的解药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pd.to_datetime(col, errors='coerce')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误区：解析失败直接ValueError炸管道——coerce变NaT进缺失策略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知识详解：combine_first补洞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combine_first补洞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combine_first=主备电源：主列缺电自动切备份列有效值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主传感器与备份传感器双源互补——工业数据增强正规手法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df['vib'].combine_first(df['vib_backup'])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误区：双源都缺没兜底——补完后统计缺失率确认是否还需第三源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知识详解：IQR护栏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IQR护栏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IQR=分位数装护栏：Q3+1.5×IQR为界——只看排序位置不怕极端值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振动尖峰剔除——比3σ不被极端值带偏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q1,q3=df.vib.quantile([.25,.75]); fence=q3+1.5*(q3-q1)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误区：极端值大时3σ的均值方差本身被带偏——IQR靠排序免疫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知识应用（5）：IQR=Q3-Q1；1.5倍护栏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IQR=Q3-Q1；1.5倍护栏。在两江智造产线上的用法：q1,q3=df.vib.quantile([.25,.75]); fence=q3+1.5*(q3-q1); outliers=df[df.vib&gt;fence]——比3σ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q1,q3=df.vib.quantile([.25,.75]); fence=q3+1.5*(q3-q1); outliers=df[df.vib&gt;fence]——比3σ对异常值更稳健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知识详解：业务阈值与统计法AND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业务阈值与统计法AND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双闸门=物理限位+统计护栏两道都过才放行——AND不是OR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工艺红线(如&gt;85℃必异常)与统计异常叠加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(df.temp&gt;85) | 统计异常 —— 双确认再剔除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误区：只用统计法——把真实工艺尖峰当异常洗掉，事故反向制造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知识详解：清洗顺序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B07 · 清洗顺序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清洗顺序=洗衣服工序：类型→缺失→异常→去重，顺序错全返工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管道七步的前四步——顺序即依赖关系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先to_datetime才能算缺失；先去重再算IQR防重复干扰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误区：先算异常再去重——重复行把统计量带偏，护栏失真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知识应用（7）：清洗顺序：类型→缺失→异常→去重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清洗顺序：类型→缺失→异常→去重。在两江智造产线上的用法：见工单starter与教师参考实现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七步管道构建与质量自测——应用：见工单starter与教师参考实现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三格式时间戳统一——应用：见工单starter与教师参考实现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IQR×业务阈值异常处理——应用：见工单starter与教师参考实现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决策矩阵驱动策略选择——应用：见工单starter与教师参考实现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认识工业数据的两大容器（1）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Pandas核心对象：Series、DataFrame、Index；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数据加载：read_csv/read_excel/read_json；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数据检查三板斧：shape、info()、describe()、head()。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关键代码：三格式时间统一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parts = [pd.to_datetime(df.ts, format=f, errors="coerce")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for f in ("%Y-%m-%d %H:%M:%S", "%m/%d/%Y %H:%M",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"%Y%m%d%H%M%S")]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ts = parts[0]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p in parts[1:]: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ts = ts.combine_first(p)      # 依次填补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df["ts"] = 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关键代码：IQR×业务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q1, q3 = df.temp.quantile([.25, .75]); iqr = q3 - q1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mask = (df.temp &lt; q1-1.5*iqr) | (df.temp &gt; q3+1.5*iqr) | (df.temp &gt; 120)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df = df[~mask]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决策：缺失值策略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信息损失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偏差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dropna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均值填充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插值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本课决策题：决策：缺失值策略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实施任务：工单P2.1《Pandas数据处理管道》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--peek预览+缺失统计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to_datetime三格式统一(combine_first)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清洗+类型转换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管道完整+质量≥85%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质量≥88%+日志可复现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--peek观察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预览数据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数缺失/类型错各几个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记录到工单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能数出问题类型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基础清洗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to_numeric转NaN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dropna简单处理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输出评分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质量≥85%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完整管道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类型转换+时间统一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插值+IQR处理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去重输出clean.csv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质量≥88%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增量处理+质量90+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只清洗新增行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质量冲90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日志记录每步行数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处理日志全留痕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数据质量报告加“处理日志”：每步操作与行数变化全程留痕)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--peek预览+缺失统计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to_datetime三格式统一(combine_first)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5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5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46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清洗+类型转换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链式赋值警告→用.loc或先copy()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to_numeric(errors=coerce)把'N/A'变NaN统一处理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清洗顺序：类型→缺失→异常→去重，别乱序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链式赋值警告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视图上赋值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用.loc或先copy()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统计量被污染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异常值前先归一化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先清洗后缩放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评分上不去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时间列没转datetime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统一格式后重评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D·学徒（≥60）：--peek观察——跟做保底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C·操作员（≥70）：基础清洗——基础完成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B·组长（≥80）：完整管道——标准达成+帮带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A·师傅（≥90）：增量处理+质量90+——进阶拓展+费曼讲解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步骤1：--peek预览+缺失统计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步骤2：to_datetime三格式统一(combine_first)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步骤3：清洗+类型转换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conda环境正确（提示符显示(pp03）再运行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提交物与评分（工单P2.1）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学号_姓名_P2.1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完成工单P2.1《Pandas数据处理管道》：及格标准管道完整+质量≥85%；优秀标准特殊格式处理+质量≥90%+PEP 8≥85%；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撰写数据质量报告（问题类型统计与处理决策说明）；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预习NumPy数组基础。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/>
              <a:t>P3 仪表盘运行态 · 完成后长这样（真实运行·参考实现）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3. 图表可交互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2. 5 个 KPI 卡显示数字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4. 浏览器 8500 端口可访问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64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00" y="2006102"/>
            <a:ext cx="4600000" cy="1387796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pandas读取大CSV慢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usecols选列+chunksize分块读，见W3微课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Modbus连接拒绝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先起plc_simulator再连5020；确认host是教师机IP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streamlit页面不刷新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改代码后浏览器右上Rerun或按R键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P2.1任务书——步骤/及格线/评分细则都在里面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三个系统的数据格式不统一，周报要人工合并两小时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Pandas管道+Streamlit仪表盘，一键刷新自动出周报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P2.1的技能点即其最小实现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下一步：模型预警（P6）/智能运维平台（P7选做）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认识工业数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据的两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DataFrame二维表；shape/info/describe摸底 · dropna/fillna/interpolate三策略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七步管道构建与质量自测——应用：见工单starter与教师参考实现 · 三格式时间戳统一——应用：见工单starter与教师参考实现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链式赋值警告 · 统计量被污染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工单P2.1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dropna/fillna/interpolate各适用什么场景？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排错题：出现「链式赋值警告」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原因：视图上赋值；解决：用.loc或先copy()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DataFrame二维表；shape/info/describe摸底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知识：DataFrame二维表；shape/i；dropna/fillna/interp；to_datetime(errors=c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技能：七步管道构建与质量自测——应用：见工单starter与教师参考实现；三格式时间戳统一——应用：见工单starter与教师参考实现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交付：工单P2.1《Pandas数据处理管道》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64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下次课预告（第4周）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特征字典驱动补齐30维特征——应用：见工单sta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x**2向量化为什么比for快100倍？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