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9" r:id="rId11"/>
    <p:sldId id="260" r:id="rId12"/>
    <p:sldId id="261" r:id="rId13"/>
    <p:sldId id="263" r:id="rId15"/>
    <p:sldId id="264" r:id="rId16"/>
    <p:sldId id="266" r:id="rId18"/>
    <p:sldId id="267" r:id="rId19"/>
    <p:sldId id="271" r:id="rId23"/>
    <p:sldId id="273" r:id="rId25"/>
    <p:sldId id="274" r:id="rId26"/>
    <p:sldId id="275" r:id="rId27"/>
    <p:sldId id="276" r:id="rId28"/>
    <p:sldId id="277" r:id="rId29"/>
    <p:sldId id="278" r:id="rId30"/>
    <p:sldId id="280" r:id="rId32"/>
    <p:sldId id="281" r:id="rId33"/>
    <p:sldId id="282" r:id="rId34"/>
    <p:sldId id="287" r:id="rId39"/>
    <p:sldId id="289" r:id="rId41"/>
    <p:sldId id="291" r:id="rId43"/>
    <p:sldId id="293" r:id="rId45"/>
    <p:sldId id="295" r:id="rId47"/>
    <p:sldId id="297" r:id="rId49"/>
    <p:sldId id="298" r:id="rId50"/>
    <p:sldId id="300" r:id="rId52"/>
    <p:sldId id="301" r:id="rId53"/>
    <p:sldId id="305" r:id="rId57"/>
    <p:sldId id="307" r:id="rId59"/>
    <p:sldId id="308" r:id="rId60"/>
    <p:sldId id="312" r:id="rId64"/>
    <p:sldId id="313" r:id="rId65"/>
    <p:sldId id="314" r:id="rId66"/>
    <p:sldId id="315" r:id="rId67"/>
    <p:sldId id="316" r:id="rId68"/>
    <p:sldId id="318" r:id="rId70"/>
    <p:sldId id="320" r:id="rId72"/>
    <p:sldId id="322" r:id="rId74"/>
    <p:sldId id="324" r:id="rId76"/>
    <p:sldId id="325" r:id="rId77"/>
    <p:sldId id="327" r:id="rId79"/>
    <p:sldId id="328" r:id="rId80"/>
    <p:sldId id="329" r:id="rId81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1" r:id="rId93"/>
    <p:sldId id="342" r:id="rId94"/>
    <p:sldId id="343" r:id="rId95"/>
    <p:sldId id="350" r:id="rId102"/>
    <p:sldId id="355" r:id="rId107"/>
    <p:sldId id="356" r:id="rId108"/>
    <p:sldId id="357" r:id="rId109"/>
    <p:sldId id="361" r:id="rId113"/>
    <p:sldId id="362" r:id="rId1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3" Type="http://schemas.openxmlformats.org/officeDocument/2006/relationships/slide" Target="slides/slide10.xml"/><Relationship Id="rId25" Type="http://schemas.openxmlformats.org/officeDocument/2006/relationships/slide" Target="slides/slide11.xml"/><Relationship Id="rId26" Type="http://schemas.openxmlformats.org/officeDocument/2006/relationships/slide" Target="slides/slide12.xml"/><Relationship Id="rId27" Type="http://schemas.openxmlformats.org/officeDocument/2006/relationships/slide" Target="slides/slide13.xml"/><Relationship Id="rId28" Type="http://schemas.openxmlformats.org/officeDocument/2006/relationships/slide" Target="slides/slide14.xml"/><Relationship Id="rId29" Type="http://schemas.openxmlformats.org/officeDocument/2006/relationships/slide" Target="slides/slide15.xml"/><Relationship Id="rId30" Type="http://schemas.openxmlformats.org/officeDocument/2006/relationships/slide" Target="slides/slide16.xml"/><Relationship Id="rId32" Type="http://schemas.openxmlformats.org/officeDocument/2006/relationships/slide" Target="slides/slide17.xml"/><Relationship Id="rId33" Type="http://schemas.openxmlformats.org/officeDocument/2006/relationships/slide" Target="slides/slide18.xml"/><Relationship Id="rId34" Type="http://schemas.openxmlformats.org/officeDocument/2006/relationships/slide" Target="slides/slide19.xml"/><Relationship Id="rId39" Type="http://schemas.openxmlformats.org/officeDocument/2006/relationships/slide" Target="slides/slide20.xml"/><Relationship Id="rId41" Type="http://schemas.openxmlformats.org/officeDocument/2006/relationships/slide" Target="slides/slide21.xml"/><Relationship Id="rId43" Type="http://schemas.openxmlformats.org/officeDocument/2006/relationships/slide" Target="slides/slide22.xml"/><Relationship Id="rId45" Type="http://schemas.openxmlformats.org/officeDocument/2006/relationships/slide" Target="slides/slide23.xml"/><Relationship Id="rId47" Type="http://schemas.openxmlformats.org/officeDocument/2006/relationships/slide" Target="slides/slide24.xml"/><Relationship Id="rId49" Type="http://schemas.openxmlformats.org/officeDocument/2006/relationships/slide" Target="slides/slide25.xml"/><Relationship Id="rId50" Type="http://schemas.openxmlformats.org/officeDocument/2006/relationships/slide" Target="slides/slide26.xml"/><Relationship Id="rId52" Type="http://schemas.openxmlformats.org/officeDocument/2006/relationships/slide" Target="slides/slide27.xml"/><Relationship Id="rId53" Type="http://schemas.openxmlformats.org/officeDocument/2006/relationships/slide" Target="slides/slide28.xml"/><Relationship Id="rId57" Type="http://schemas.openxmlformats.org/officeDocument/2006/relationships/slide" Target="slides/slide29.xml"/><Relationship Id="rId59" Type="http://schemas.openxmlformats.org/officeDocument/2006/relationships/slide" Target="slides/slide30.xml"/><Relationship Id="rId60" Type="http://schemas.openxmlformats.org/officeDocument/2006/relationships/slide" Target="slides/slide31.xml"/><Relationship Id="rId64" Type="http://schemas.openxmlformats.org/officeDocument/2006/relationships/slide" Target="slides/slide32.xml"/><Relationship Id="rId65" Type="http://schemas.openxmlformats.org/officeDocument/2006/relationships/slide" Target="slides/slide33.xml"/><Relationship Id="rId66" Type="http://schemas.openxmlformats.org/officeDocument/2006/relationships/slide" Target="slides/slide34.xml"/><Relationship Id="rId67" Type="http://schemas.openxmlformats.org/officeDocument/2006/relationships/slide" Target="slides/slide35.xml"/><Relationship Id="rId68" Type="http://schemas.openxmlformats.org/officeDocument/2006/relationships/slide" Target="slides/slide36.xml"/><Relationship Id="rId70" Type="http://schemas.openxmlformats.org/officeDocument/2006/relationships/slide" Target="slides/slide37.xml"/><Relationship Id="rId72" Type="http://schemas.openxmlformats.org/officeDocument/2006/relationships/slide" Target="slides/slide38.xml"/><Relationship Id="rId74" Type="http://schemas.openxmlformats.org/officeDocument/2006/relationships/slide" Target="slides/slide39.xml"/><Relationship Id="rId76" Type="http://schemas.openxmlformats.org/officeDocument/2006/relationships/slide" Target="slides/slide40.xml"/><Relationship Id="rId77" Type="http://schemas.openxmlformats.org/officeDocument/2006/relationships/slide" Target="slides/slide41.xml"/><Relationship Id="rId79" Type="http://schemas.openxmlformats.org/officeDocument/2006/relationships/slide" Target="slides/slide42.xml"/><Relationship Id="rId80" Type="http://schemas.openxmlformats.org/officeDocument/2006/relationships/slide" Target="slides/slide43.xml"/><Relationship Id="rId81" Type="http://schemas.openxmlformats.org/officeDocument/2006/relationships/slide" Target="slides/slide44.xml"/><Relationship Id="rId83" Type="http://schemas.openxmlformats.org/officeDocument/2006/relationships/slide" Target="slides/slide45.xml"/><Relationship Id="rId84" Type="http://schemas.openxmlformats.org/officeDocument/2006/relationships/slide" Target="slides/slide46.xml"/><Relationship Id="rId85" Type="http://schemas.openxmlformats.org/officeDocument/2006/relationships/slide" Target="slides/slide47.xml"/><Relationship Id="rId86" Type="http://schemas.openxmlformats.org/officeDocument/2006/relationships/slide" Target="slides/slide48.xml"/><Relationship Id="rId87" Type="http://schemas.openxmlformats.org/officeDocument/2006/relationships/slide" Target="slides/slide49.xml"/><Relationship Id="rId88" Type="http://schemas.openxmlformats.org/officeDocument/2006/relationships/slide" Target="slides/slide50.xml"/><Relationship Id="rId89" Type="http://schemas.openxmlformats.org/officeDocument/2006/relationships/slide" Target="slides/slide51.xml"/><Relationship Id="rId90" Type="http://schemas.openxmlformats.org/officeDocument/2006/relationships/slide" Target="slides/slide52.xml"/><Relationship Id="rId91" Type="http://schemas.openxmlformats.org/officeDocument/2006/relationships/slide" Target="slides/slide53.xml"/><Relationship Id="rId93" Type="http://schemas.openxmlformats.org/officeDocument/2006/relationships/slide" Target="slides/slide54.xml"/><Relationship Id="rId94" Type="http://schemas.openxmlformats.org/officeDocument/2006/relationships/slide" Target="slides/slide55.xml"/><Relationship Id="rId95" Type="http://schemas.openxmlformats.org/officeDocument/2006/relationships/slide" Target="slides/slide56.xml"/><Relationship Id="rId102" Type="http://schemas.openxmlformats.org/officeDocument/2006/relationships/slide" Target="slides/slide57.xml"/><Relationship Id="rId107" Type="http://schemas.openxmlformats.org/officeDocument/2006/relationships/slide" Target="slides/slide58.xml"/><Relationship Id="rId108" Type="http://schemas.openxmlformats.org/officeDocument/2006/relationships/slide" Target="slides/slide59.xml"/><Relationship Id="rId109" Type="http://schemas.openxmlformats.org/officeDocument/2006/relationships/slide" Target="slides/slide60.xml"/><Relationship Id="rId113" Type="http://schemas.openxmlformats.org/officeDocument/2006/relationships/slide" Target="slides/slide61.xml"/><Relationship Id="rId114" Type="http://schemas.openxmlformats.org/officeDocument/2006/relationships/slide" Target="slides/slide6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1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1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开场30秒：本次课《像企业团队一样写代码》，80分钟＝2课时×40分钟。课前已发工单+starter+微课知识卡，资讯·计划线上完成。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议程页30秒：指读六个部分的分钟归属，强调'资讯计划课前已完成'；告诉学生'每次课都知道现在在哪一步、还剩多少时间'。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过渡页：一句话点明本部分——先明确这门课'为什么学、学了去哪'。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念'课程性质'一行即可，重点指读'对接证书'与'课程衔接'，让学生知道本课与前后课程的关系（30秒）。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知识地图：先见森林后见树木。指着四条分支预告本课路线，不展开细讲（40秒）。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分支详解二：强调'技能=今天的验收口径'，评价权重即打分表。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课证赛岗对照：说明本课工单在证书/竞赛中的对应考点，30秒。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流程预告：强调'资讯·计划已在课前完成'，课堂从决策直接开始。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决策10→实施30→检查5→实施25→评价10；评价环节不压缩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PRIMM的Predict：先让学生猜，再揭晓。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课前测讲评：随机点2名学生说答案，只追问'为什么'，不展开讲；错得多的题记到'检查'环节再回收。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预习检查页：左栏布置下次课教材预习（下次quiz从中出）；右栏抽查上次课检查知识点——随机2人白板/口述，答对记过程分。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逐题精讲：只讲错得最多的题——其余对答案即可。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情境说书（30秒，口头讲，不必逐字念）：进组第一件事不是写代码。方总监下令：全组统一工程底座，'以后所有代码都长在这个模板上。'——工单P1.2：交付标准工程模板（venv+Git+目录规范），模板即资产。</a:t>
            </a:r>
          </a:p>
          <a:p>
            <a:r>
              <a:t>讲完抛出问题：'如果是你，第一步先干什么？'——自然过渡到决策环节。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剧情拆解：把情境页的故事拆成三要素，让学生明确'解决什么'。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目标对照页：逐维读目标，指读达标口径=评分表，目标可测可评。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知识精讲开始：每条知识对应一张大卡，讲法'先例后理'。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详解B1·标准目录结构：先读定义→场景为什么用它→看代码实例→扩展给A层。C/D层掌握前三格，A层加扩展格。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详解B2·venv/conda沙箱：先读定义→场景为什么用它→看代码实例→扩展给A层。C/D层掌握前三格，A层加扩展格。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详解B3·Git五步工作流：先读定义→场景为什么用它→看代码实例→扩展给A层。C/D层掌握前三格，A层加扩展格。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详解B4·commit前缀：先读定义→场景为什么用它→看代码实例→扩展给A层。C/D层掌握前三格，A层加扩展格。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详解B5·pylint与black：先读定义→场景为什么用它→看代码实例→扩展给A层。C/D层掌握前三格，A层加扩展格。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应用页5：把知识点放回产线场景——先看代码输出，再回看定义，强化'学以致用'。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详解B6·pytest自动发现：先读定义→场景为什么用它→看代码实例→扩展给A层。C/D层掌握前三格，A层加扩展格。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应用页6：把知识点放回产线场景——先看代码输出，再回看定义，强化'学以致用'。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技能点＝今天'做完你应该会'，逐条对应工单步骤与评分点。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现场演示《规范提交》：三步走——先整段跑通看结果，再逐行讲关键语句，最后现场改一个参数看输出变化（演10分钟的核心素材）。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进入实施：先决策、再领工单、按层执行。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决策矩阵用法（10分钟）：组内对备选方案打分→选型→把结论和理由写进工单'决策记录'栏；教师抽查2组口头说理由（决策追责）。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方案对比：三问框架通用——以后每个决策环节都用这三问。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工单发布话术：'数字化转型办公室发来工单P1.2《标准Python工程模板》，及格线是v，优秀线看A层标准'——念完发starter。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D层·学徒：跟做保底。教师或屏幕领做，做完即达标，绝不留白。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C层·操作员：基础完成。按工单步骤独立完成，卡壳先查错误速查表。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B层·组长：标准达成。全部功能+规范，完成后帮带同组D/C层。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A层·师傅：进阶拓展。完成拓展任务并准备2分钟展示；费曼式讲给D层听。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避坑清单：每条问'为什么会踩'，点名学生解释，把'注意'变成'知道为什么注意'。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错误速查：现场演示第一条——制造「venv被提交」，带着学生按'现象→原因→解决'三步排查。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四层总览：一页看全四层目标与达标线——学生选层前先看全局。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核对清单：把工单步骤变成checklist，做完勾选——防漏做。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最后一查：五项90秒自查——退回率最低的五个点。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收尾5分钟检查+10分钟评价。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三层质检组织：自查明细→同伴互查（签字）→教师抽查2组；查出的缺陷当场修，修不完记入课后任务。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提交强调：文件命名'学号_姓名_工单号.zip'，24小时内教师在平台反馈评分。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教材衔接：教材：Python程序设计项目化教程（活页式）（任越美 李垒 李江岱 主编，978-7-313-30507-7）— 项目1 | 预习知识点：PEP8规范；Git基本操作(init/add/commit) | 课中检查知识点：工程模板可运行；能git commit一次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素养页：结合本课内容点一个真实案例（如数据脱敏、代码抄袭后果），30秒即可。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提醒：运行截图/实拍照片贴到工单过程记录栏，作为过程性考核证据。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评分细则：四级量表逐行读——学生知道自己'到哪条线得多少分'。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FAQ三题：覆盖装包/启动/规范三大高频问题——贴在工单背面。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资源导航：五级求助顺序=工单→starter→指南→notebook→教师。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拓展部分：A层必看，B层选看，C/D层课后看——差异化作业。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产业案例：讲一个真实岗位场景，把课堂技能挂到职业坐标系。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思政页：结合本课内容点一个真实案例，30秒即可，不贴标签。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图谱回顾：回到开课的地图——现在每条分支都走过了。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多解法页：同一工单三种深度——层不同，解法不同，都算对。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自测答案：逐题讲'为什么'——错题定位到知识卡编号。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一图流总结：五句话收束全天——知识/技能/交付/习惯/明日。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下课提醒：关机→椅归位→带走工单；教师课后24h内完成反馈。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下次课预告：布置课前微课知识卡与导学单，形成学习闭环。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9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1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2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3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0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5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6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Python程序设计（项目实战）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数字化转型办公室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像企业团队一样写代码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第二周 · 第3次课（2课时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 ·  理实一体  ·  配套：分层工单+starter  ·  本课主用：PyCharm CE + Git/GitHub（工程模板核心·五步工作流）</a:t>
            </a:r>
          </a:p>
        </p:txBody>
      </p:sp>
      <p:pic>
        <p:nvPicPr>
          <p:cNvPr id="7" name="Picture 6" descr="W2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性质·岗位·证书：为什么学这门课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80分钟时间盒与ABCD分层节奏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带着目标进课堂+两江智造本课剧情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基础知识大卡+代码演示（先例后理）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任务实施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六步法核心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工单发布·分层执行·避坑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三层质检·当堂评分·课后任务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资讯·计划已于课前线上完成——课堂从决策/演示直接开始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 / 62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本课在课程体系中的位置（课程标准摘录）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 / 62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课程定位：Python程序设计（项目实战）（课程标准摘录）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26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6000" y="1880000"/>
            <a:ext cx="2652500" cy="5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0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6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自包含工程应用课：C语言底子直接上工业项目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8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8500" y="1880000"/>
            <a:ext cx="2652500" cy="56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85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8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数据工程师、数据分析、AI应用、采集技术员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51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51000" y="1880000"/>
            <a:ext cx="2652500" cy="56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10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1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Python开发、数据应用与服务（1+X）、AI应用实践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13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13500" y="1880000"/>
            <a:ext cx="2652500" cy="5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135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3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前置仅需C语言 → 本课(第1-8周) → 后：毕业设计/平台实习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 / 62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像企业团队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一样写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标准结构：src/tests/config/data/docs · conda环境隔离；requirements.txt冻结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Git五步：init/add/commit/branch/merge · commit前缀：feat:/fix:/docs: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生成标准工程模板并推Git——应用：见工单starter与教师参考实现 · dev分支开发与规范合并——应用：见工单starter与教师参考实现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 / 62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知识地图分支详解（二）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技能线：生成标准工程模板并推Git——应用：见工单starter与教师参考实现；dev分支开发与规范合并——应用：见工单starter与教师参考实现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分层任务线：D跟做→C独立→B帮带→A拓展（每4周动态升降）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课堂评价线：功能40%+技术25%+规范20%+素养15%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三条线闭环：技能靠任务练，任务按评价收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 / 62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岗课赛证对照（本课坐标）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数字化转型办公室：数据工程师、数据分析工程师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P1.2《标准Python工程模板》——本课工单即考核单元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Python开发职业技能等级证书（工信部）——工程模板/数据处理对应中级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世界职业院校技能大赛（人工智能赛道）数据采集/处理赛项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 / 62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80分钟时间盒与个人节奏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 / 62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课前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线上导学单+预习自测（已完成的打√）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决策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备选方案对比 → 决策矩阵打分 → 结论公示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30min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骨架贯通：体验→应用，完成工单核心功能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检查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三层质检：自检—互检—师查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25min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优化迭代：冲优秀标准/拓展任务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000" y="585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0000" y="585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000" y="595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00000" y="595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0000" y="595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D/C/B/A量表评分 + 课后任务布置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123444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共80分钟（六步法课堂化）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 / 62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带着目标进课堂（Predict·预测）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62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知识目标：怎么学·怎么证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目标：掌握PEP 8规范要点；掌握conda环境与requirements.txt依赖管理；掌握Git基本工作流与项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怎么学：知识卡先例后理→快查核对→应用页回到产线场景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怎么证：课前quiz+随堂自测+工单'技术质量25%'项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达标线：能复述定义+能说出产线例子=过关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62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能力目标：怎么练·怎么证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目标：能够搭建含src/tests/docs/config的标准工程模板；能够完成Git仓库初始化与规范提交；能够配置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怎么练：starter跟做（D）→独立完成（C）→规范+帮带（B）→拓展（A）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怎么证：工单'功能40%'全项+运行截图贴过程记录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达标线：代码能跑+输出符合工单样例=过关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62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素质目标：怎么养·怎么证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目标：建立“代码是团队资产”的协作意识，养成规范化、可追溯的工程开发习惯。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怎么养：规范命名/及时提交/报错必究——每个工单都在练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怎么证：Git提交历史（每周≥1次）+工单'素养15%'项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达标线：提交记录连续+命名规范=过关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62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requirements.txt的作用？conda环境为什么不必进.gitignore？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模板仓库已克隆更新；导学单与实施计划已提交平台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62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课前预习与检查（教材衔接 · 上次课回顾）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4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5300000" cy="7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1880000"/>
            <a:ext cx="48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📖 课前预习｜下次课教材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0000" y="2650000"/>
            <a:ext cx="4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《Python程序设计项目化教》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项目1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0000" y="376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40000" y="3700000"/>
            <a:ext cx="4500000" cy="4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PEP8规范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0000" y="438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40000" y="4320000"/>
            <a:ext cx="4500000" cy="4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Git基本操作(init/add/commit)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0000" y="1800000"/>
            <a:ext cx="5360000" cy="44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0000" y="1800000"/>
            <a:ext cx="536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00000" y="1880000"/>
            <a:ext cx="49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✓ 课中检查｜上次课（W1）抽查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00000" y="2800000"/>
            <a:ext cx="900000" cy="4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00000" y="2840000"/>
            <a:ext cx="800000" cy="4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微软雅黑"/>
              </a:rPr>
              <a:t>抽查1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50000" y="2760000"/>
            <a:ext cx="3860000" cy="5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五题闯关全过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00000" y="3580000"/>
            <a:ext cx="900000" cy="4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00000" y="3620000"/>
            <a:ext cx="800000" cy="4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微软雅黑"/>
              </a:rPr>
              <a:t>抽查2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50000" y="3540000"/>
            <a:ext cx="386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能conda activate pp03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0000" y="4380000"/>
            <a:ext cx="4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1">
                <a:solidFill>
                  <a:srgbClr val="44546A"/>
                </a:solidFill>
                <a:latin typeface="微软雅黑"/>
              </a:rPr>
              <a:t>抽查方式：随机2人白板演示/口述——答对记过程分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62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课前测逐题精讲（错得最多的那道）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题目：requirements.txt的作用？conda环境为什么不必进.gitignore？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正确思路：从'考哪个知识卡'入手——先定位再作答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常见错误：背概念不看场景；看到代码就慌，先读注释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本课回收：这道题的考点会在知识卡X和随堂自测中再次出现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62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数字化转型办公室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进组第一件事不是写代码。方总监下令：全组统一工程底座，'以后所有代码都长在这个模板上。'——工单P1.2：交付标准工程模板（conda环境+Git+目录规范），模板即资产。</a:t>
            </a:r>
          </a:p>
        </p:txBody>
      </p:sp>
      <p:pic>
        <p:nvPicPr>
          <p:cNvPr id="9" name="Picture 8" descr="W2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62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剧情拆解：任务 → 冲突 → 你的决策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任务背景：进组第一件事不是写代码。方总监下令：全组统一工程底座，'以后所有代码都长在这个模板上。'——工单P1.2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冲突点：产线数据量大/格式杂/时限紧——手工做不完，必须编程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决策点：先做什么再做什么？数据从哪来？输出给谁看？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带着这三个问题进入知识精讲——每个知识点都是解药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62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三维目标 → 怎么算达标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掌握PEP 8规范要点；掌握conda环境与requirements.txt依赖管理；掌握Git基本工作流与项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能够搭建含src/tests/docs/config的标准工程模板；能够完成Git仓库初始化与规范提交；能够配置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建立“代码是团队资产”的协作意识，养成规范化、可追溯的工程开发习惯。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达标口径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对应工单P1.2评分：功能40%+技术25%+规范20%+素养15%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62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详解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62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知识详解：标准目录结构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B01 · 标准目录结构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目录即车间布局：src生产区/tests质检区/config图纸/data原料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工程模板骨架——新项目复制即用不重搭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src/cleaner.py + tests/test_cleaner.py 成对出现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误区：全堆一个根目录——reviewer看目录就懂分层，混放=不及格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62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知识详解：conda环境沙箱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B02 · conda环境沙箱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conda环境=每台机器各配工具箱：A要库1.0、B要2.0互不打架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多人协作/多项目共存的版本冲突解法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conda create -n pp03 &amp;&amp; conda activate pp03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误区：不激活就pip install——装进base等于白装，命令行看前缀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62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知识详解：Git五步工作流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B03 · Git五步工作流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Git五步=写日记五连：clone取本子→add记→commit存→branch分册→merge合册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模板即资产：Git记录就是可追溯的开发档案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git add . &amp;&amp; git commit -m 'feat: 工程模板'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误区：一周一commit大杂烩——小步提交才能回滚到任意中间态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62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知识详解：commit前缀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B04 · commit前缀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前缀=提交的分类标签：feat新功能/fix修bug/docs文档/test测试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教师按前缀审贡献——message质量即工程素养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feat: 完成P1.2目录规范 + .gitignore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误区：'改了一些东西'式message=日记写'今天有事'——无法回溯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62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知识详解：pylint与black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B05 · pylint与black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pylint=机器质检员打分；black=自动整形师——先过机器再过人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代码审查的机器闸门——pylint≥8.5是工单硬指标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black src/ 秒级格式化；pylint src/ 出分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误区：风格争议人肉吵——交给black零讨论成本，pylint只看逻辑分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62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知识应用（5）：pylint评分≥8.5；black格式化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pylint评分≥8.5；black格式化。在两江智造产线上的用法：见工单starter与教师参考实现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62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知识详解：pytest自动发现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B06 · pytest自动发现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pytest=自动点名的考官：test_开头文件与函数自动收集执行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TDD入门——先写test_clean再写clean，测试先行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def test_clean(): assert clean('脏') == '净'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误区：测试文件名不带test_前缀——pytest根本不收，跑了等于没跑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62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知识应用（6）：pytest自动发现test_函数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pytest自动发现test_函数。在两江智造产线上的用法：def test_clean():assert...——文件名test_开头函数自动被pytest收集运行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680000"/>
            <a:ext cx="10900000" cy="165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680000"/>
            <a:ext cx="10900000" cy="1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860000"/>
            <a:ext cx="10300000" cy="1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def test_clean():assert...——文件名test_开头函数自动被pytest收集运行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62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生成标准工程模板并推Git——应用：见工单starter与教师参考实现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dev分支开发与规范合并——应用：见工单starter与教师参考实现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配置检查工具与自动格式化——应用：见工单starter与教师参考实现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编写第一个单元测试——应用：见工单starter与教师参考实现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62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像企业团队一样写代码（1）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PEP 8规范详解：命名、缩进、行长、导入顺序；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conda环境与依赖管理（requirements.txt）；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Git版本控制：init、add、commit、branch、merge；GitHub/Gitea仓库使用；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commit message规范与分支策略入门。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62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关键代码：规范提交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git checkout -b dev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git add src/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git commit -m "feat: 完成数据采集模块"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git checkout main &amp;&amp; git merge dev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62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步骤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62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决策：检查工具选型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工具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严格度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自动修复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pylint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flake8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black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0000" y="468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决策结论写入工单，答辩必答；实施失误回溯决策复盘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62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决策怎么下：方案对比三问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本课决策题：决策：检查工具选型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问①可行吗——每个方案的实现路径走得通吗（技术风险）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问②值吗——开发时间/运行速度/可维护性三角权衡（工程账）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问③谁拍板——组内数据说话，理由写进工单（决策追责制）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规则：没有记录的决策=没有决策——写下来才算数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62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实施任务：工单P1.2《标准Python工程模板》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生成标准结构src/tests/config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conda环境+requirements+首次规范commit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dev分支创建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conda环境可用+仓库+结构完整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依赖可还原+dev分支规范合并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62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Git四关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闯关练习四关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每步截图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commit带说明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init到merge走通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62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基础模板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生成模板目录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git init+首次commit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跑通main.py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结构完整可运行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62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模板+工具链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运行p12模板生成器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flake8+black配置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为题1写3断言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pylint≥8.5+pytest过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62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CI/pre-commit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GitHub Actions配置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pre-commit钩子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pylint 9+截图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98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Actions绿钩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(A层加码: 配置pre-commit钩子：commit前自动black+flake8)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39 / 62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实施步骤与注意事项（做）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850000"/>
            <a:ext cx="6300000" cy="41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59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545E8"/>
                </a:solidFill>
                <a:latin typeface="微软雅黑"/>
              </a:rPr>
              <a:t>实施步骤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920000" y="266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0000" y="268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0000" y="260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生成标准结构src/tests/config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0000" y="299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000" y="301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0000" y="293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conda环境+requirements+首次规范commit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000" y="332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000" y="334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0000" y="3260000"/>
            <a:ext cx="5300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dev分支创建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50000" y="1850000"/>
            <a:ext cx="4300000" cy="410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50000" y="1980000"/>
            <a:ext cx="395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5670F"/>
                </a:solidFill>
                <a:latin typeface="微软雅黑"/>
              </a:rPr>
              <a:t>⚠ 注意事项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50000" y="2600000"/>
            <a:ext cx="3950000" cy="3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__pycache__必须进.gitignore（conda环境在Anaconda目录，无需提交）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commit要小步：一个功能一个commit带feat:/fix:前缀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pytest从根目录跑，导入路径用src.包名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40 / 62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环境目录被提交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.gitignore缺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加__pycache__/（conda环境在Anaconda目录）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全局py环境混乱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没激活conda环境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看终端前缀(环境名)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一次commit全部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无说明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小步提交带前缀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41 / 62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ABCD四层任务总览（先看全貌再领任务）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D·学徒（≥60）：Git四关——跟做保底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C·操作员（≥70）：基础模板——基础完成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B·组长（≥80）：模板+工具链——标准达成+帮带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A·师傅（≥90）：CI/pre-commit——进阶拓展+费曼讲解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规则：每人按工单勾选自己的层；每4周按达标情况动态升降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42 / 62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操作核对清单（做完一条勾一条）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步骤1：生成标准结构src/tests/config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步骤2：conda环境+requirements+首次规范commit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步骤3：dev分支创建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全部勾完→同桌互查签字→提交工单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43 / 62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提交前最后一查（90秒）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代码能从头跑到尾不报错（python xx.py再跑一遍）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输出格式符合工单样例（对齐/单位/小数位）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文件命名：学号_姓名_工单号.py（不对=扣规范分）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运行截图已贴工单过程记录栏（过程性证据）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conda环境正确（提示符显示(pp03）再运行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44 / 62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45 / 62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46 / 62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提交物与评分（工单P1.2）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学号_姓名_P1.2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47 / 62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总结评价与课后任务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10600000" cy="15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050000"/>
            <a:ext cx="103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评价（10分钟）：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按D/C/B/A量表当堂评分；工单24小时内反馈评语与改进建议。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000" y="370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1. 完成工单P1.2《标准Python工程模板》：及格标准环境可用+仓库初始化+结构完整；优秀标准依赖可还原+CI配置+检查工具集成；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000" y="442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2. 用模板重构P1.1练习代码并提交规范commit；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000" y="514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3. 预习Pandas的Series与DataFrame概念。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000" y="5960000"/>
            <a:ext cx="10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下次课预告：</a:t>
            </a:r>
            <a:r>
              <a:rPr sz="1300" b="0">
                <a:solidFill>
                  <a:srgbClr val="44546A"/>
                </a:solidFill>
                <a:latin typeface="微软雅黑"/>
              </a:rPr>
              <a:t>见下次课工单任务书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48 / 62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工程责任：代码可维护、文档完整、测试先行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绿色计算：向量化省算力, 批量写入降开销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职业规划：以项目档案袋对接岗位与竞赛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49 / 62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/>
              <a:t>P2.1 清洗管道完成态 · 完成后长这样（真实运行·参考实现）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5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7" name="Rectangle 6"/>
          <p:cNvSpPr/>
          <p:nvPr/>
        </p:nvSpPr>
        <p:spPr>
          <a:xfrm>
            <a:off x="70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0000" y="4320000"/>
            <a:ext cx="46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1B2B28"/>
                </a:solidFill>
              </a:rPr>
              <a:t>3. 打回单/坏行明细已输出</a:t>
            </a:r>
          </a:p>
        </p:txBody>
      </p:sp>
      <p:sp>
        <p:nvSpPr>
          <p:cNvPr id="9" name="Rectangle 8"/>
          <p:cNvSpPr/>
          <p:nvPr/>
        </p:nvSpPr>
        <p:spPr>
          <a:xfrm>
            <a:off x="556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60000" y="2520000"/>
            <a:ext cx="46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1B2B28"/>
                </a:solidFill>
              </a:rPr>
              <a:t>2. 质量评分 ≥ 85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6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60000" y="4320000"/>
            <a:ext cx="46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1B2B28"/>
                </a:solidFill>
              </a:rPr>
              <a:t>4. 退出码 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50 / 62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000" y="2169831"/>
            <a:ext cx="4600000" cy="1060338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工单评分细则（四级量表）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等级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对应要求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A·师傅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≥90分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进阶拓展完成+2分钟费曼展示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B·组长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≥80分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全功能+代码规范+帮带D/C层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C·操作员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≥70分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基础功能完成+错误速查自查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456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66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D·学徒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≥60分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跟做完成核心步骤+达标自评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530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功能40%+技术质量25%+代码规范20%+工程素养15%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51 / 62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高频FAQ（先自查再举手）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pandas读取大CSV慢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usecols选列+chunksize分块读，见W3微课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Modbus连接拒绝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先起plc_simulator再连5020；确认host是教师机IP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streamlit页面不刷新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改代码后浏览器右上Rerun或按R键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52 / 62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资源导航（卡住时按顺序查）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P1.2任务书——步骤/及格线/评分细则都在里面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starter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学生代码框架/——TODO注释即步骤提示，未填也能跑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软件指南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../软件操作指南/——PyCharm/Jupyter/Git/Anaconda六份图文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Jupyter实训/——本周notebook师生版，先跑教师版看答案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Git提交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做完按Ctrl+K提交推送——每周至少1次，工程素养分依据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53 / 62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07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拓展与自测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把今天的能力圈再画大一圈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54 / 62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产业应用案例（学这个能干什么）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真实场景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三个系统的数据格式不统一，周报要人工合并两小时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用什么解决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Pandas管道+Streamlit仪表盘，一键刷新自动出周报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本课对应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P1.2的技能点即其最小实现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延伸方向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下一步：模型预警（P6）/智能运维平台（P7选做）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55 / 62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课程思政：如盐入水（30秒一个点）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报错必究——每个红色报错都是产线隐患的预演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数据诚信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指标不许造假——改数字骗过测试=产线事故的起点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协作素养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ABCD轮换履职——师傅带徒弟，贡献表如实填报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职业底线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代码抄作业=岗位上的'无证驾驶'，害人害己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56 / 62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全课知识图谱回顾（一图收束）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像企业团队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一样写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4条分支导览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知识回顾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标准结构：src/tests/config/data/docs · conda环境隔离；requirements.txt冻结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技能回顾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生成标准工程模板并推Git——应用：见工单starter与教师参考实现 · dev分支开发与规范合并——应用：见工单starter与教师参考实现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易错回顾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环境目录被提交 · 全局py环境混乱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交付物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工单P1.2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57 / 62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多解法一瞥（同一任务的不同打法）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解法A·直白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按工单步骤顺序实现——好懂好调试，D/C层路线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解法B·工程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函数封装+异常处理——可复用，B层路线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解法C·进阶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向量化/推导式/设计模式——性能优雅，A层路线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怎么选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先让它跑起来→再让它对→最后让它快（KISS原则）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58 / 62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自测答案与讲解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课前快问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requirements.txt的作用？conda环境为什么不必进.gitignore？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排错题：出现「环境目录被提交」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原因：.gitignore缺；解决：加__pycache__/（conda环境在Anaconda目录）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复述题：用自己的话说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标准结构：src/tests/config/data/docs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错题怎么办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回看对应知识卡+应用页，再跑一遍starter验证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59 / 62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今日一图流总结（贴脑墙上）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知识：标准结构：src/tests/confi；conda环境隔离；requirement；Git五步：init/add/commi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技能：生成标准工程模板并推Git——应用：见工单starter与教师参考实现；dev分支开发与规范合并——应用：见工单starter与教师参考实现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交付：工单P1.2《标准Python工程模板》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习惯：做完就Ctrl+K提交Git——每周至少1次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4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2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明日：课前微课+导学单（下次课quiz从中出题）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60 / 62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61 / 62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下次课预告（第3周）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七步管道构建与质量自测——应用：见工单start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dropna/fillna/interpolate各适用什么场景？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